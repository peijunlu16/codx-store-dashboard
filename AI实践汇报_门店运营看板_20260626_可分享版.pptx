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40CCF-9BB1-3CFA-B284-5AA174933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10CD9F-0B84-5E25-963E-49FE1E5F4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A5D033-8B37-F71F-5FAD-66260D24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1D28-78EC-4DE6-AF5A-DFAB0167E440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AAEC97-BC8B-A62A-6E8F-18D6EE76A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97B42A-9670-00F9-5519-4C9436BC0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6507A-27A7-4557-A43C-D380D7BA2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6902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63C7E-D78C-5995-2E2A-92EE087E5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C590C8-83B3-CD34-BAB2-775187CA6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72FD2E-754D-4EA8-C9AC-F0A135DA1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1D28-78EC-4DE6-AF5A-DFAB0167E440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CE3812-B44A-6E57-372E-2E7B857E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34C989-2871-4DAD-2D10-1D949223A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6507A-27A7-4557-A43C-D380D7BA2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100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759625-324B-FA58-B4E0-DBB278A7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DC854B-5CB5-C21F-F892-A2752E688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610F3F-8C09-8677-7EF7-CDAFBD9A9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1D28-78EC-4DE6-AF5A-DFAB0167E440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158821-1228-B62B-5E12-D23176DCF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E0279C-B545-15F8-DD22-642DC1D0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6507A-27A7-4557-A43C-D380D7BA2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78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94D0B7-D8D7-5083-79BD-8868E8CB3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11C46B-1762-9254-33E3-7E03F2D66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A0592B-F362-2923-AF6F-6B1E71E7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4327B7-CE73-0EB8-8E30-4F79F9059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1D28-78EC-4DE6-AF5A-DFAB0167E440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185863-D358-0EE9-A00F-6A3455D37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CD0DBA-4D00-90C3-E8BC-4BA6B964F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6507A-27A7-4557-A43C-D380D7BA2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658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3FBE05-F8DD-32F5-A230-7473EA9D7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7F3E1E-6027-031D-3A04-5CE47AED0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0BB2F4-E3AA-9F4C-29CA-6721BF0E1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6F6C3A-58C2-0E25-3FB6-9E27B16D4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74A049-BCBC-0466-E7C7-0914654E7E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A7A2DC3-CE0D-C195-842D-422CA75CA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1D28-78EC-4DE6-AF5A-DFAB0167E440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0F551D3-E3F2-49E3-2DF3-B99F92F3D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6BDAC6A-6C60-0A75-C84E-EAD6982DE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6507A-27A7-4557-A43C-D380D7BA2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686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2018F6-74B3-B551-7E46-C4E2156EF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968782-493A-35BD-B771-1B9DCA6EC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1D28-78EC-4DE6-AF5A-DFAB0167E440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035485-F073-3D5E-4C78-2CBD507B6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8F7E1D-1B73-12CF-F3F9-EAAC9675F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6507A-27A7-4557-A43C-D380D7BA2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148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0D0679-DE90-DE14-EE44-7393772A3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1D28-78EC-4DE6-AF5A-DFAB0167E440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57DAB8-02A0-A510-ADE1-15D3EC9C0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79F21B-E89C-9DA3-2501-0D77302CB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6507A-27A7-4557-A43C-D380D7BA2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956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291442-A57D-D634-80D3-DA67CD625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0AF193-885A-8BD7-0692-AD0A9A40B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4569B7-E664-DDDD-6815-1FB301F80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A27D8A-052B-4829-BEB2-59ABF086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1D28-78EC-4DE6-AF5A-DFAB0167E440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06D45A-8F38-6FA6-5B2F-9BAE0E066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35746F-800F-B288-610E-C2471CAB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6507A-27A7-4557-A43C-D380D7BA2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726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0D1E62-DC20-14B3-65CC-EA6F21460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53691E-3218-BEEB-FB65-3C7611476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022F3-F5D5-6B8F-76B3-DE33DA53F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C1A460-4DA1-B8A5-4A9B-4BD4894B5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1D28-78EC-4DE6-AF5A-DFAB0167E440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9D5C26-9EEC-60F5-F647-03041C596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D6E641-7A4B-1815-A2BB-2CF5A33ED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6507A-27A7-4557-A43C-D380D7BA2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212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C0954-38F6-21BC-778C-5836E18B5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64310F-05AE-22A3-41D6-668AFD8A3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F0718B-E614-D6E9-D515-1D0B28BF0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1D28-78EC-4DE6-AF5A-DFAB0167E440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5984CB-7005-FC6E-BDF2-C868CDA68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AE8204-4179-D01E-26EC-59F958E4D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6507A-27A7-4557-A43C-D380D7BA2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64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2980CE-9130-A006-C939-101A96E3DC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A144A3-9D1E-9542-A2C3-F4B9F1AC0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5C243C-6D16-E244-1874-1F318859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1D28-78EC-4DE6-AF5A-DFAB0167E440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B8DDF2-3043-CF3A-D6D1-5B5C0F285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A05161-2B5F-23C2-07DD-5FC14B753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6507A-27A7-4557-A43C-D380D7BA2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056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BC8764E-5046-B87B-3B40-691E74FDC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208899-08BA-E259-56B7-755F1F66F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E8354D-9FDD-3CC0-0619-72F46C308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91D28-78EC-4DE6-AF5A-DFAB0167E440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40D062-BDB4-E6AB-2D15-BC0FCF47A6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87D824-C416-6DF0-0FFF-D86C5393F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6507A-27A7-4557-A43C-D380D7BA2D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583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61F6C52-AA91-DC1E-208B-C3C14E0E75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819"/>
          </a:solidFill>
          <a:ln>
            <a:solidFill>
              <a:srgbClr val="1618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D8262F-A42C-BE1D-2173-65E525CDEDA1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463C2E-0C72-4162-03E3-6059FC9D4A37}"/>
              </a:ext>
            </a:extLst>
          </p:cNvPr>
          <p:cNvSpPr/>
          <p:nvPr/>
        </p:nvSpPr>
        <p:spPr>
          <a:xfrm>
            <a:off x="152400" y="0"/>
            <a:ext cx="76200" cy="6858000"/>
          </a:xfrm>
          <a:prstGeom prst="rect">
            <a:avLst/>
          </a:prstGeom>
          <a:solidFill>
            <a:srgbClr val="FF0AAE"/>
          </a:solidFill>
          <a:ln>
            <a:solidFill>
              <a:srgbClr val="FF0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881373-26A9-3891-338F-828BC06F835B}"/>
              </a:ext>
            </a:extLst>
          </p:cNvPr>
          <p:cNvSpPr txBox="1"/>
          <p:nvPr/>
        </p:nvSpPr>
        <p:spPr>
          <a:xfrm>
            <a:off x="711200" y="914400"/>
            <a:ext cx="5334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DAPHNE.LAB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4C4FBC-85E6-1EB3-CBA3-0ED4DFB9E1A3}"/>
              </a:ext>
            </a:extLst>
          </p:cNvPr>
          <p:cNvSpPr txBox="1"/>
          <p:nvPr/>
        </p:nvSpPr>
        <p:spPr>
          <a:xfrm>
            <a:off x="711200" y="1574800"/>
            <a:ext cx="8255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400" b="1">
                <a:solidFill>
                  <a:srgbClr val="FFFFFF"/>
                </a:solidFill>
                <a:latin typeface="Microsoft YaHei" panose="020B0503020204020204" pitchFamily="34" charset="-122"/>
              </a:rPr>
              <a:t>门店运营看板 </a:t>
            </a:r>
            <a:r>
              <a:rPr lang="en-US" altLang="zh-CN" sz="3400" b="1">
                <a:solidFill>
                  <a:srgbClr val="FFFF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3400" b="1">
                <a:solidFill>
                  <a:srgbClr val="FFFFFF"/>
                </a:solidFill>
                <a:latin typeface="Microsoft YaHei" panose="020B0503020204020204" pitchFamily="34" charset="-122"/>
              </a:rPr>
              <a:t>实践汇报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29916F-1141-1705-C26B-4821FD9FB64D}"/>
              </a:ext>
            </a:extLst>
          </p:cNvPr>
          <p:cNvSpPr txBox="1"/>
          <p:nvPr/>
        </p:nvSpPr>
        <p:spPr>
          <a:xfrm>
            <a:off x="736600" y="2641600"/>
            <a:ext cx="7112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2D6D8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700">
                <a:solidFill>
                  <a:srgbClr val="D2D6D8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700">
                <a:solidFill>
                  <a:srgbClr val="D2D6D8"/>
                </a:solidFill>
                <a:latin typeface="Microsoft YaHei" panose="020B0503020204020204" pitchFamily="34" charset="-122"/>
              </a:rPr>
              <a:t>数据源到可交互运营驾驶舱的协作复盘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CAE431D-E7F5-9CC8-7CC5-3FB2A981B877}"/>
              </a:ext>
            </a:extLst>
          </p:cNvPr>
          <p:cNvSpPr/>
          <p:nvPr/>
        </p:nvSpPr>
        <p:spPr>
          <a:xfrm>
            <a:off x="736600" y="3429000"/>
            <a:ext cx="1270000" cy="304800"/>
          </a:xfrm>
          <a:prstGeom prst="roundRect">
            <a:avLst/>
          </a:prstGeom>
          <a:solidFill>
            <a:srgbClr val="EEF9FC"/>
          </a:solidFill>
          <a:ln>
            <a:solidFill>
              <a:srgbClr val="EEF9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B7113E-44C7-61D6-7B18-22A776C408A6}"/>
              </a:ext>
            </a:extLst>
          </p:cNvPr>
          <p:cNvSpPr txBox="1"/>
          <p:nvPr/>
        </p:nvSpPr>
        <p:spPr>
          <a:xfrm>
            <a:off x="863600" y="3492500"/>
            <a:ext cx="1016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1F1F1E"/>
                </a:solidFill>
                <a:latin typeface="Microsoft YaHei" panose="020B0503020204020204" pitchFamily="34" charset="-122"/>
              </a:rPr>
              <a:t>自动数据源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CA27BAE-6CD9-502A-9D86-4009A07381FB}"/>
              </a:ext>
            </a:extLst>
          </p:cNvPr>
          <p:cNvSpPr/>
          <p:nvPr/>
        </p:nvSpPr>
        <p:spPr>
          <a:xfrm>
            <a:off x="2159000" y="3429000"/>
            <a:ext cx="1320800" cy="304800"/>
          </a:xfrm>
          <a:prstGeom prst="roundRect">
            <a:avLst/>
          </a:prstGeom>
          <a:solidFill>
            <a:srgbClr val="FFEEF9"/>
          </a:solidFill>
          <a:ln>
            <a:solidFill>
              <a:srgbClr val="FFEE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4BAE03-1B9D-353D-1D05-E6F0E7B4D944}"/>
              </a:ext>
            </a:extLst>
          </p:cNvPr>
          <p:cNvSpPr txBox="1"/>
          <p:nvPr/>
        </p:nvSpPr>
        <p:spPr>
          <a:xfrm>
            <a:off x="2286000" y="3492500"/>
            <a:ext cx="1066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1F1F1E"/>
                </a:solidFill>
                <a:latin typeface="Microsoft YaHei" panose="020B0503020204020204" pitchFamily="34" charset="-122"/>
              </a:rPr>
              <a:t>多门店汇总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308FA28-DC8B-31F1-3A4A-C3EF29632BE5}"/>
              </a:ext>
            </a:extLst>
          </p:cNvPr>
          <p:cNvSpPr/>
          <p:nvPr/>
        </p:nvSpPr>
        <p:spPr>
          <a:xfrm>
            <a:off x="3632200" y="3429000"/>
            <a:ext cx="1117600" cy="304800"/>
          </a:xfrm>
          <a:prstGeom prst="roundRect">
            <a:avLst/>
          </a:prstGeom>
          <a:solidFill>
            <a:srgbClr val="FFF6E6"/>
          </a:solidFill>
          <a:ln>
            <a:solidFill>
              <a:srgbClr val="FFF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6F540E-834E-590C-42FC-9FA435EABFE7}"/>
              </a:ext>
            </a:extLst>
          </p:cNvPr>
          <p:cNvSpPr txBox="1"/>
          <p:nvPr/>
        </p:nvSpPr>
        <p:spPr>
          <a:xfrm>
            <a:off x="3759200" y="3492500"/>
            <a:ext cx="863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1F1F1E"/>
                </a:solidFill>
                <a:latin typeface="Microsoft YaHei" panose="020B0503020204020204" pitchFamily="34" charset="-122"/>
              </a:rPr>
              <a:t>经营预警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45652EC-6F3E-3F64-7358-79D866C2D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935" y="1574800"/>
            <a:ext cx="5406313" cy="304292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2A88F64-8637-2616-AAAE-4231FDA87644}"/>
              </a:ext>
            </a:extLst>
          </p:cNvPr>
          <p:cNvSpPr txBox="1"/>
          <p:nvPr/>
        </p:nvSpPr>
        <p:spPr>
          <a:xfrm>
            <a:off x="736600" y="6172200"/>
            <a:ext cx="2540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BEC4C6"/>
                </a:solidFill>
                <a:latin typeface="Microsoft YaHei" panose="020B0503020204020204" pitchFamily="34" charset="-122"/>
              </a:rPr>
              <a:t>2026.06.26</a:t>
            </a:r>
            <a:endParaRPr lang="zh-CN" altLang="en-US" sz="1100">
              <a:solidFill>
                <a:srgbClr val="BEC4C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6236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C5DEFDD-5869-24AF-A588-814EEA0B6A51}"/>
              </a:ext>
            </a:extLst>
          </p:cNvPr>
          <p:cNvSpPr txBox="1"/>
          <p:nvPr/>
        </p:nvSpPr>
        <p:spPr>
          <a:xfrm>
            <a:off x="508000" y="355600"/>
            <a:ext cx="381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000">
                <a:solidFill>
                  <a:srgbClr val="646460"/>
                </a:solidFill>
                <a:latin typeface="Microsoft YaHei" panose="020B0503020204020204" pitchFamily="34" charset="-122"/>
              </a:rPr>
              <a:t>实践汇报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4A42F2-27DB-E6F8-DDB1-B9A38FD77A1B}"/>
              </a:ext>
            </a:extLst>
          </p:cNvPr>
          <p:cNvSpPr txBox="1"/>
          <p:nvPr/>
        </p:nvSpPr>
        <p:spPr>
          <a:xfrm>
            <a:off x="508000" y="66040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1F1F1E"/>
                </a:solidFill>
                <a:latin typeface="Microsoft YaHei" panose="020B0503020204020204" pitchFamily="34" charset="-122"/>
              </a:rPr>
              <a:t>为什么做：把门店经营从“事后看表”变成“当场判断”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773414B-B0AF-4827-C35C-132AA448075E}"/>
              </a:ext>
            </a:extLst>
          </p:cNvPr>
          <p:cNvCxnSpPr/>
          <p:nvPr/>
        </p:nvCxnSpPr>
        <p:spPr>
          <a:xfrm>
            <a:off x="508000" y="1320800"/>
            <a:ext cx="11176000" cy="0"/>
          </a:xfrm>
          <a:prstGeom prst="line">
            <a:avLst/>
          </a:prstGeom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3240A2FD-C2E9-C5F8-AF74-F27CB25D5408}"/>
              </a:ext>
            </a:extLst>
          </p:cNvPr>
          <p:cNvSpPr txBox="1"/>
          <p:nvPr/>
        </p:nvSpPr>
        <p:spPr>
          <a:xfrm>
            <a:off x="762000" y="1778000"/>
            <a:ext cx="5334000" cy="168251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 sz="1600">
                <a:solidFill>
                  <a:srgbClr val="1F1F1E"/>
                </a:solidFill>
                <a:latin typeface="Microsoft YaHei" panose="020B0503020204020204" pitchFamily="34" charset="-122"/>
              </a:rPr>
              <a:t>原始销售、库存数据分散在 </a:t>
            </a:r>
            <a:r>
              <a:rPr lang="en-US" altLang="zh-CN" sz="1600">
                <a:solidFill>
                  <a:srgbClr val="1F1F1E"/>
                </a:solidFill>
                <a:latin typeface="Microsoft YaHei" panose="020B0503020204020204" pitchFamily="34" charset="-122"/>
              </a:rPr>
              <a:t>Excel</a:t>
            </a:r>
            <a:r>
              <a:rPr lang="zh-CN" altLang="en-US" sz="1600">
                <a:solidFill>
                  <a:srgbClr val="1F1F1E"/>
                </a:solidFill>
                <a:latin typeface="Microsoft YaHei" panose="020B0503020204020204" pitchFamily="34" charset="-122"/>
              </a:rPr>
              <a:t>，门店经营复盘依赖人工筛选、汇总和截图。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 sz="1600">
                <a:solidFill>
                  <a:srgbClr val="1F1F1E"/>
                </a:solidFill>
                <a:latin typeface="Microsoft YaHei" panose="020B0503020204020204" pitchFamily="34" charset="-122"/>
              </a:rPr>
              <a:t>管理层需要同时看到销售、客流、目标达成、毛利、库存与商品结构，单表很难形成即时判断。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 sz="1600">
                <a:solidFill>
                  <a:srgbClr val="1F1F1E"/>
                </a:solidFill>
                <a:latin typeface="Microsoft YaHei" panose="020B0503020204020204" pitchFamily="34" charset="-122"/>
              </a:rPr>
              <a:t>本次实践目标：用 </a:t>
            </a:r>
            <a:r>
              <a:rPr lang="en-US" altLang="zh-CN" sz="1600">
                <a:solidFill>
                  <a:srgbClr val="1F1F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600">
                <a:solidFill>
                  <a:srgbClr val="1F1F1E"/>
                </a:solidFill>
                <a:latin typeface="Microsoft YaHei" panose="020B0503020204020204" pitchFamily="34" charset="-122"/>
              </a:rPr>
              <a:t>辅助完成数据口径梳理、页面设计、功能迭代和交互看板开发。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1A995DC-6D3C-E524-C7EF-0B2DA75F5629}"/>
              </a:ext>
            </a:extLst>
          </p:cNvPr>
          <p:cNvSpPr/>
          <p:nvPr/>
        </p:nvSpPr>
        <p:spPr>
          <a:xfrm>
            <a:off x="6731000" y="1905000"/>
            <a:ext cx="2222500" cy="132080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477DF0-009E-1FB5-9753-3EF500E82212}"/>
              </a:ext>
            </a:extLst>
          </p:cNvPr>
          <p:cNvSpPr txBox="1"/>
          <p:nvPr/>
        </p:nvSpPr>
        <p:spPr>
          <a:xfrm>
            <a:off x="6959600" y="2184400"/>
            <a:ext cx="1778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1F1F1E"/>
                </a:solidFill>
                <a:latin typeface="Microsoft YaHei" panose="020B0503020204020204" pitchFamily="34" charset="-122"/>
              </a:rPr>
              <a:t>4</a:t>
            </a:r>
            <a:endParaRPr lang="zh-CN" altLang="en-US" sz="2500" b="1">
              <a:solidFill>
                <a:srgbClr val="1F1F1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58E24B-7577-8B96-9955-424F6CBFB4AB}"/>
              </a:ext>
            </a:extLst>
          </p:cNvPr>
          <p:cNvSpPr txBox="1"/>
          <p:nvPr/>
        </p:nvSpPr>
        <p:spPr>
          <a:xfrm>
            <a:off x="6985000" y="2692400"/>
            <a:ext cx="165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直营门店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F7B5BC7-8EE9-B662-3A74-E4506109A178}"/>
              </a:ext>
            </a:extLst>
          </p:cNvPr>
          <p:cNvSpPr/>
          <p:nvPr/>
        </p:nvSpPr>
        <p:spPr>
          <a:xfrm>
            <a:off x="9207500" y="1905000"/>
            <a:ext cx="2222500" cy="132080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D25F80-AF1B-F81B-44D2-8785CEB2F268}"/>
              </a:ext>
            </a:extLst>
          </p:cNvPr>
          <p:cNvSpPr txBox="1"/>
          <p:nvPr/>
        </p:nvSpPr>
        <p:spPr>
          <a:xfrm>
            <a:off x="9436100" y="2184400"/>
            <a:ext cx="1778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1F1F1E"/>
                </a:solidFill>
                <a:latin typeface="Microsoft YaHei" panose="020B0503020204020204" pitchFamily="34" charset="-122"/>
              </a:rPr>
              <a:t>1516</a:t>
            </a:r>
            <a:endParaRPr lang="zh-CN" altLang="en-US" sz="2500" b="1">
              <a:solidFill>
                <a:srgbClr val="1F1F1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DBA6AFA-6625-E77C-E2F3-478BD7699391}"/>
              </a:ext>
            </a:extLst>
          </p:cNvPr>
          <p:cNvSpPr txBox="1"/>
          <p:nvPr/>
        </p:nvSpPr>
        <p:spPr>
          <a:xfrm>
            <a:off x="9461500" y="2692400"/>
            <a:ext cx="165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店铺日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37958D4-3162-D285-8A1F-559379D3DCEB}"/>
              </a:ext>
            </a:extLst>
          </p:cNvPr>
          <p:cNvSpPr/>
          <p:nvPr/>
        </p:nvSpPr>
        <p:spPr>
          <a:xfrm>
            <a:off x="6737350" y="3716868"/>
            <a:ext cx="2222500" cy="132080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D5FC47-A998-2DB9-60B5-AACAD89830A9}"/>
              </a:ext>
            </a:extLst>
          </p:cNvPr>
          <p:cNvSpPr txBox="1"/>
          <p:nvPr/>
        </p:nvSpPr>
        <p:spPr>
          <a:xfrm>
            <a:off x="6858000" y="3996268"/>
            <a:ext cx="1778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500" b="1" dirty="0">
                <a:solidFill>
                  <a:srgbClr val="1F1F1E"/>
                </a:solidFill>
                <a:latin typeface="Microsoft YaHei" panose="020B0503020204020204" pitchFamily="34" charset="-122"/>
              </a:rPr>
              <a:t>819.83</a:t>
            </a:r>
            <a:r>
              <a:rPr lang="zh-CN" altLang="en-US" sz="2500" b="1" dirty="0">
                <a:solidFill>
                  <a:srgbClr val="1F1F1E"/>
                </a:solidFill>
                <a:latin typeface="Microsoft YaHei" panose="020B0503020204020204" pitchFamily="34" charset="-122"/>
              </a:rPr>
              <a:t>万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221C2D2-5C25-80BB-C074-D48C35FBAF2D}"/>
              </a:ext>
            </a:extLst>
          </p:cNvPr>
          <p:cNvSpPr txBox="1"/>
          <p:nvPr/>
        </p:nvSpPr>
        <p:spPr>
          <a:xfrm>
            <a:off x="6858000" y="4504268"/>
            <a:ext cx="165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dirty="0">
                <a:solidFill>
                  <a:srgbClr val="646460"/>
                </a:solidFill>
                <a:latin typeface="Microsoft YaHei" panose="020B0503020204020204" pitchFamily="34" charset="-122"/>
              </a:rPr>
              <a:t>全期净销售额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18304B7-8F41-0984-E188-96E8ACC45062}"/>
              </a:ext>
            </a:extLst>
          </p:cNvPr>
          <p:cNvSpPr/>
          <p:nvPr/>
        </p:nvSpPr>
        <p:spPr>
          <a:xfrm>
            <a:off x="9207500" y="3716868"/>
            <a:ext cx="2222500" cy="132080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B7C2BA9-1394-8480-91C6-D76A8307E48C}"/>
              </a:ext>
            </a:extLst>
          </p:cNvPr>
          <p:cNvSpPr txBox="1"/>
          <p:nvPr/>
        </p:nvSpPr>
        <p:spPr>
          <a:xfrm>
            <a:off x="9436100" y="3996268"/>
            <a:ext cx="1778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500" b="1" dirty="0">
                <a:solidFill>
                  <a:srgbClr val="1F1F1E"/>
                </a:solidFill>
                <a:latin typeface="Microsoft YaHei" panose="020B0503020204020204" pitchFamily="34" charset="-122"/>
              </a:rPr>
              <a:t>13,285</a:t>
            </a:r>
            <a:endParaRPr lang="zh-CN" altLang="en-US" sz="2500" b="1" dirty="0">
              <a:solidFill>
                <a:srgbClr val="1F1F1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3969C21-372E-109B-0FE8-947DA47AC1D0}"/>
              </a:ext>
            </a:extLst>
          </p:cNvPr>
          <p:cNvSpPr txBox="1"/>
          <p:nvPr/>
        </p:nvSpPr>
        <p:spPr>
          <a:xfrm>
            <a:off x="9461500" y="4504268"/>
            <a:ext cx="165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库存件数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5DC790-5B13-8448-A22A-D18297EC55AD}"/>
              </a:ext>
            </a:extLst>
          </p:cNvPr>
          <p:cNvSpPr txBox="1"/>
          <p:nvPr/>
        </p:nvSpPr>
        <p:spPr>
          <a:xfrm>
            <a:off x="6858000" y="5621867"/>
            <a:ext cx="4572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dirty="0">
                <a:solidFill>
                  <a:srgbClr val="646460"/>
                </a:solidFill>
                <a:latin typeface="Microsoft YaHei" panose="020B0503020204020204" pitchFamily="34" charset="-122"/>
              </a:rPr>
              <a:t>成品数据区间：</a:t>
            </a:r>
            <a:r>
              <a:rPr lang="en-US" altLang="zh-CN" sz="1300" dirty="0">
                <a:solidFill>
                  <a:srgbClr val="646460"/>
                </a:solidFill>
                <a:latin typeface="Microsoft YaHei" panose="020B0503020204020204" pitchFamily="34" charset="-122"/>
              </a:rPr>
              <a:t>2025-01-01 </a:t>
            </a:r>
            <a:r>
              <a:rPr lang="zh-CN" altLang="en-US" sz="1300" dirty="0">
                <a:solidFill>
                  <a:srgbClr val="646460"/>
                </a:solidFill>
                <a:latin typeface="Microsoft YaHei" panose="020B0503020204020204" pitchFamily="34" charset="-122"/>
              </a:rPr>
              <a:t>至 </a:t>
            </a:r>
            <a:r>
              <a:rPr lang="en-US" altLang="zh-CN" sz="1300" dirty="0">
                <a:solidFill>
                  <a:srgbClr val="646460"/>
                </a:solidFill>
                <a:latin typeface="Microsoft YaHei" panose="020B0503020204020204" pitchFamily="34" charset="-122"/>
              </a:rPr>
              <a:t>2026-06-21</a:t>
            </a:r>
            <a:r>
              <a:rPr lang="zh-CN" altLang="en-US" sz="1300" dirty="0">
                <a:solidFill>
                  <a:srgbClr val="646460"/>
                </a:solidFill>
                <a:latin typeface="Microsoft YaHei" panose="020B0503020204020204" pitchFamily="34" charset="-122"/>
              </a:rPr>
              <a:t>；库存快照：</a:t>
            </a:r>
            <a:r>
              <a:rPr lang="en-US" altLang="zh-CN" sz="1300" dirty="0">
                <a:solidFill>
                  <a:srgbClr val="646460"/>
                </a:solidFill>
                <a:latin typeface="Microsoft YaHei" panose="020B0503020204020204" pitchFamily="34" charset="-122"/>
              </a:rPr>
              <a:t>2026-06-22</a:t>
            </a:r>
            <a:r>
              <a:rPr lang="zh-CN" altLang="en-US" sz="1300" dirty="0">
                <a:solidFill>
                  <a:srgbClr val="646460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66953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C49BF49-6213-7DF3-7BB1-0FEE48225C93}"/>
              </a:ext>
            </a:extLst>
          </p:cNvPr>
          <p:cNvSpPr txBox="1"/>
          <p:nvPr/>
        </p:nvSpPr>
        <p:spPr>
          <a:xfrm>
            <a:off x="508000" y="355600"/>
            <a:ext cx="381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000">
                <a:solidFill>
                  <a:srgbClr val="646460"/>
                </a:solidFill>
                <a:latin typeface="Microsoft YaHei" panose="020B0503020204020204" pitchFamily="34" charset="-122"/>
              </a:rPr>
              <a:t>实践汇报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2D1258-76D6-972E-ED52-A7E6C1D4C1E4}"/>
              </a:ext>
            </a:extLst>
          </p:cNvPr>
          <p:cNvSpPr txBox="1"/>
          <p:nvPr/>
        </p:nvSpPr>
        <p:spPr>
          <a:xfrm>
            <a:off x="508000" y="66040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1F1F1E"/>
                </a:solidFill>
                <a:latin typeface="Microsoft YaHei" panose="020B0503020204020204" pitchFamily="34" charset="-122"/>
              </a:rPr>
              <a:t>做了什么：一套面向经营动作的看板能力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B087E23-4B05-C018-8F41-774E44F89A75}"/>
              </a:ext>
            </a:extLst>
          </p:cNvPr>
          <p:cNvCxnSpPr/>
          <p:nvPr/>
        </p:nvCxnSpPr>
        <p:spPr>
          <a:xfrm>
            <a:off x="508000" y="1320800"/>
            <a:ext cx="11176000" cy="0"/>
          </a:xfrm>
          <a:prstGeom prst="line">
            <a:avLst/>
          </a:prstGeom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6EA31D7-4AB6-BF62-CFF5-8097D9EEF4E6}"/>
              </a:ext>
            </a:extLst>
          </p:cNvPr>
          <p:cNvSpPr/>
          <p:nvPr/>
        </p:nvSpPr>
        <p:spPr>
          <a:xfrm>
            <a:off x="660400" y="1841500"/>
            <a:ext cx="2565400" cy="292100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5D99B8-9EEC-9DCB-AF49-70A37BE0941C}"/>
              </a:ext>
            </a:extLst>
          </p:cNvPr>
          <p:cNvSpPr/>
          <p:nvPr/>
        </p:nvSpPr>
        <p:spPr>
          <a:xfrm>
            <a:off x="660400" y="1841500"/>
            <a:ext cx="2565400" cy="762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2C0FCD-551E-DB7C-3D87-166732662EB1}"/>
              </a:ext>
            </a:extLst>
          </p:cNvPr>
          <p:cNvSpPr txBox="1"/>
          <p:nvPr/>
        </p:nvSpPr>
        <p:spPr>
          <a:xfrm>
            <a:off x="889000" y="2209800"/>
            <a:ext cx="2032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1F1F1E"/>
                </a:solidFill>
                <a:latin typeface="Microsoft YaHei" panose="020B0503020204020204" pitchFamily="34" charset="-122"/>
              </a:rPr>
              <a:t>数据接入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C79E31-E666-C18A-2A4F-48D06851640C}"/>
              </a:ext>
            </a:extLst>
          </p:cNvPr>
          <p:cNvSpPr txBox="1"/>
          <p:nvPr/>
        </p:nvSpPr>
        <p:spPr>
          <a:xfrm>
            <a:off x="889000" y="2768600"/>
            <a:ext cx="20066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销售 </a:t>
            </a:r>
            <a:r>
              <a:rPr lang="en-US" altLang="zh-CN" sz="1300">
                <a:solidFill>
                  <a:srgbClr val="646460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自动读取；库存 </a:t>
            </a:r>
            <a:r>
              <a:rPr lang="en-US" altLang="zh-CN" sz="1300">
                <a:solidFill>
                  <a:srgbClr val="646460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识别最新快照；支持手动导入补充。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C66A3FC-B4C3-17DD-EF0D-E180A8A7EB1F}"/>
              </a:ext>
            </a:extLst>
          </p:cNvPr>
          <p:cNvSpPr/>
          <p:nvPr/>
        </p:nvSpPr>
        <p:spPr>
          <a:xfrm>
            <a:off x="3479800" y="1841500"/>
            <a:ext cx="2565400" cy="292100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5D9A0B-712A-65D6-AAE6-31DCC9523BB1}"/>
              </a:ext>
            </a:extLst>
          </p:cNvPr>
          <p:cNvSpPr/>
          <p:nvPr/>
        </p:nvSpPr>
        <p:spPr>
          <a:xfrm>
            <a:off x="3479800" y="1841500"/>
            <a:ext cx="2565400" cy="762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658036-5727-3C0F-2668-47E47200D4BA}"/>
              </a:ext>
            </a:extLst>
          </p:cNvPr>
          <p:cNvSpPr txBox="1"/>
          <p:nvPr/>
        </p:nvSpPr>
        <p:spPr>
          <a:xfrm>
            <a:off x="3708400" y="2209800"/>
            <a:ext cx="2032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1F1F1E"/>
                </a:solidFill>
                <a:latin typeface="Microsoft YaHei" panose="020B0503020204020204" pitchFamily="34" charset="-122"/>
              </a:rPr>
              <a:t>指标口径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A2E0569-2C83-F74D-514F-8A67DADFA917}"/>
              </a:ext>
            </a:extLst>
          </p:cNvPr>
          <p:cNvSpPr txBox="1"/>
          <p:nvPr/>
        </p:nvSpPr>
        <p:spPr>
          <a:xfrm>
            <a:off x="3708400" y="2768600"/>
            <a:ext cx="20066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净销售额、客流、成交笔数、目标、毛利、库存按门店日级聚合。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EF2F4E0-A1BC-5071-C62A-E97528E4B3B9}"/>
              </a:ext>
            </a:extLst>
          </p:cNvPr>
          <p:cNvSpPr/>
          <p:nvPr/>
        </p:nvSpPr>
        <p:spPr>
          <a:xfrm>
            <a:off x="6299200" y="1841500"/>
            <a:ext cx="2565400" cy="292100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46FEA8A-80AA-B9A0-397F-D9546FCC9B8D}"/>
              </a:ext>
            </a:extLst>
          </p:cNvPr>
          <p:cNvSpPr/>
          <p:nvPr/>
        </p:nvSpPr>
        <p:spPr>
          <a:xfrm>
            <a:off x="6299200" y="1841500"/>
            <a:ext cx="2565400" cy="762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07FAB8A-A9C2-F6BE-195D-21452162962E}"/>
              </a:ext>
            </a:extLst>
          </p:cNvPr>
          <p:cNvSpPr txBox="1"/>
          <p:nvPr/>
        </p:nvSpPr>
        <p:spPr>
          <a:xfrm>
            <a:off x="6527800" y="2209800"/>
            <a:ext cx="2032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1F1F1E"/>
                </a:solidFill>
                <a:latin typeface="Microsoft YaHei" panose="020B0503020204020204" pitchFamily="34" charset="-122"/>
              </a:rPr>
              <a:t>经营分析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4C46D0-0D48-8027-FF1A-07777850B956}"/>
              </a:ext>
            </a:extLst>
          </p:cNvPr>
          <p:cNvSpPr txBox="1"/>
          <p:nvPr/>
        </p:nvSpPr>
        <p:spPr>
          <a:xfrm>
            <a:off x="6527800" y="2768600"/>
            <a:ext cx="20066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客流漏斗、销售利润、目标达成、门店对比、品类结构、生命周期。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EAACA6E-8B68-60CD-97F7-88038D1F8FE9}"/>
              </a:ext>
            </a:extLst>
          </p:cNvPr>
          <p:cNvSpPr/>
          <p:nvPr/>
        </p:nvSpPr>
        <p:spPr>
          <a:xfrm>
            <a:off x="9118600" y="1841500"/>
            <a:ext cx="2565400" cy="292100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006FBB-6A1A-97C4-2484-C882181E5A94}"/>
              </a:ext>
            </a:extLst>
          </p:cNvPr>
          <p:cNvSpPr/>
          <p:nvPr/>
        </p:nvSpPr>
        <p:spPr>
          <a:xfrm>
            <a:off x="9118600" y="1841500"/>
            <a:ext cx="2565400" cy="762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368F4CF-0978-07D0-7840-2707562418B8}"/>
              </a:ext>
            </a:extLst>
          </p:cNvPr>
          <p:cNvSpPr txBox="1"/>
          <p:nvPr/>
        </p:nvSpPr>
        <p:spPr>
          <a:xfrm>
            <a:off x="9347200" y="2209800"/>
            <a:ext cx="2032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1F1F1E"/>
                </a:solidFill>
                <a:latin typeface="Microsoft YaHei" panose="020B0503020204020204" pitchFamily="34" charset="-122"/>
              </a:rPr>
              <a:t>决策动作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D2550D1-7D6A-9663-BCEE-3499691199EA}"/>
              </a:ext>
            </a:extLst>
          </p:cNvPr>
          <p:cNvSpPr txBox="1"/>
          <p:nvPr/>
        </p:nvSpPr>
        <p:spPr>
          <a:xfrm>
            <a:off x="9347200" y="2768600"/>
            <a:ext cx="20066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经营预警、慢销库存关注、商品排行、尺码库存和门店销量钻取。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450466-2562-3CD3-9FFB-A01AED5902A4}"/>
              </a:ext>
            </a:extLst>
          </p:cNvPr>
          <p:cNvSpPr txBox="1"/>
          <p:nvPr/>
        </p:nvSpPr>
        <p:spPr>
          <a:xfrm>
            <a:off x="889000" y="5334000"/>
            <a:ext cx="1003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1F1F1E"/>
                </a:solidFill>
                <a:latin typeface="Microsoft YaHei" panose="020B0503020204020204" pitchFamily="34" charset="-122"/>
              </a:rPr>
              <a:t>核心不是“做一张图”，而是把日常经营问题转成一组可持续更新、可下钻追问的观察入口。</a:t>
            </a:r>
          </a:p>
        </p:txBody>
      </p:sp>
    </p:spTree>
    <p:extLst>
      <p:ext uri="{BB962C8B-B14F-4D97-AF65-F5344CB8AC3E}">
        <p14:creationId xmlns:p14="http://schemas.microsoft.com/office/powerpoint/2010/main" val="266015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CE66811-6761-1889-C35E-102FA1761907}"/>
              </a:ext>
            </a:extLst>
          </p:cNvPr>
          <p:cNvSpPr txBox="1"/>
          <p:nvPr/>
        </p:nvSpPr>
        <p:spPr>
          <a:xfrm>
            <a:off x="508000" y="355600"/>
            <a:ext cx="381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000">
                <a:solidFill>
                  <a:srgbClr val="646460"/>
                </a:solidFill>
                <a:latin typeface="Microsoft YaHei" panose="020B0503020204020204" pitchFamily="34" charset="-122"/>
              </a:rPr>
              <a:t>实践汇报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B3CEDF-74D3-7309-49EE-9DF39BC14825}"/>
              </a:ext>
            </a:extLst>
          </p:cNvPr>
          <p:cNvSpPr txBox="1"/>
          <p:nvPr/>
        </p:nvSpPr>
        <p:spPr>
          <a:xfrm>
            <a:off x="508000" y="66040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1F1F1E"/>
                </a:solidFill>
                <a:latin typeface="Microsoft YaHei" panose="020B0503020204020204" pitchFamily="34" charset="-122"/>
              </a:rPr>
              <a:t>怎么做：</a:t>
            </a:r>
            <a:r>
              <a:rPr lang="en-US" altLang="zh-CN" sz="2400" b="1">
                <a:solidFill>
                  <a:srgbClr val="1F1F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2400" b="1">
                <a:solidFill>
                  <a:srgbClr val="1F1F1E"/>
                </a:solidFill>
                <a:latin typeface="Microsoft YaHei" panose="020B0503020204020204" pitchFamily="34" charset="-122"/>
              </a:rPr>
              <a:t>协作的迭代路径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69AAE98-B9AE-6BBC-3E43-2D890B24FAFB}"/>
              </a:ext>
            </a:extLst>
          </p:cNvPr>
          <p:cNvCxnSpPr/>
          <p:nvPr/>
        </p:nvCxnSpPr>
        <p:spPr>
          <a:xfrm>
            <a:off x="508000" y="1320800"/>
            <a:ext cx="11176000" cy="0"/>
          </a:xfrm>
          <a:prstGeom prst="line">
            <a:avLst/>
          </a:prstGeom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A470B81-4AE8-B0B8-99B6-D18B798DE927}"/>
              </a:ext>
            </a:extLst>
          </p:cNvPr>
          <p:cNvSpPr/>
          <p:nvPr/>
        </p:nvSpPr>
        <p:spPr>
          <a:xfrm>
            <a:off x="1117600" y="1905000"/>
            <a:ext cx="812800" cy="48260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56D90F-0756-16FE-D5E6-2A8C585F0AFD}"/>
              </a:ext>
            </a:extLst>
          </p:cNvPr>
          <p:cNvSpPr txBox="1"/>
          <p:nvPr/>
        </p:nvSpPr>
        <p:spPr>
          <a:xfrm>
            <a:off x="1397000" y="20066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FF0AAE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600" b="1">
              <a:solidFill>
                <a:srgbClr val="FF0AA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45170E-D93A-574D-E403-EAE925B00BD7}"/>
              </a:ext>
            </a:extLst>
          </p:cNvPr>
          <p:cNvSpPr txBox="1"/>
          <p:nvPr/>
        </p:nvSpPr>
        <p:spPr>
          <a:xfrm>
            <a:off x="2286000" y="1917700"/>
            <a:ext cx="2032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F1F1E"/>
                </a:solidFill>
                <a:latin typeface="Microsoft YaHei" panose="020B0503020204020204" pitchFamily="34" charset="-122"/>
              </a:rPr>
              <a:t>数据理解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9C787A-7944-2577-48F9-63EA9E981D71}"/>
              </a:ext>
            </a:extLst>
          </p:cNvPr>
          <p:cNvSpPr txBox="1"/>
          <p:nvPr/>
        </p:nvSpPr>
        <p:spPr>
          <a:xfrm>
            <a:off x="4572000" y="1943100"/>
            <a:ext cx="609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识别字段、门店别名、销售与库存口径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5674EC1-CD77-AB9F-ADBD-DA73C9770A49}"/>
              </a:ext>
            </a:extLst>
          </p:cNvPr>
          <p:cNvCxnSpPr/>
          <p:nvPr/>
        </p:nvCxnSpPr>
        <p:spPr>
          <a:xfrm>
            <a:off x="1524000" y="2400300"/>
            <a:ext cx="0" cy="241300"/>
          </a:xfrm>
          <a:prstGeom prst="line">
            <a:avLst/>
          </a:prstGeom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EDF997F-3A5D-B936-A42F-B401E2443001}"/>
              </a:ext>
            </a:extLst>
          </p:cNvPr>
          <p:cNvSpPr/>
          <p:nvPr/>
        </p:nvSpPr>
        <p:spPr>
          <a:xfrm>
            <a:off x="1117600" y="2692400"/>
            <a:ext cx="812800" cy="48260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20FA021-51E4-0412-57C9-DDA039011D61}"/>
              </a:ext>
            </a:extLst>
          </p:cNvPr>
          <p:cNvSpPr txBox="1"/>
          <p:nvPr/>
        </p:nvSpPr>
        <p:spPr>
          <a:xfrm>
            <a:off x="1397000" y="2794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FF0AAE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600" b="1">
              <a:solidFill>
                <a:srgbClr val="FF0AA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5EB91EB-E5D7-42C6-9B23-9E83A1C3011A}"/>
              </a:ext>
            </a:extLst>
          </p:cNvPr>
          <p:cNvSpPr txBox="1"/>
          <p:nvPr/>
        </p:nvSpPr>
        <p:spPr>
          <a:xfrm>
            <a:off x="2286000" y="2705100"/>
            <a:ext cx="2032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F1F1E"/>
                </a:solidFill>
                <a:latin typeface="Microsoft YaHei" panose="020B0503020204020204" pitchFamily="34" charset="-122"/>
              </a:rPr>
              <a:t>看板原型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5F3B20-4059-54E6-ED26-6EFE8304F759}"/>
              </a:ext>
            </a:extLst>
          </p:cNvPr>
          <p:cNvSpPr txBox="1"/>
          <p:nvPr/>
        </p:nvSpPr>
        <p:spPr>
          <a:xfrm>
            <a:off x="4572000" y="2730500"/>
            <a:ext cx="609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搭建总览、门店切换、周期筛选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392770F-732B-7A94-AFCA-5BAEBCCC8ADD}"/>
              </a:ext>
            </a:extLst>
          </p:cNvPr>
          <p:cNvCxnSpPr/>
          <p:nvPr/>
        </p:nvCxnSpPr>
        <p:spPr>
          <a:xfrm>
            <a:off x="1524000" y="3187700"/>
            <a:ext cx="0" cy="241300"/>
          </a:xfrm>
          <a:prstGeom prst="line">
            <a:avLst/>
          </a:prstGeom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1FBF44-0D82-04C6-39BF-E80B68E851D2}"/>
              </a:ext>
            </a:extLst>
          </p:cNvPr>
          <p:cNvSpPr/>
          <p:nvPr/>
        </p:nvSpPr>
        <p:spPr>
          <a:xfrm>
            <a:off x="1117600" y="3479800"/>
            <a:ext cx="812800" cy="48260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AB1EDFB-0FAD-CD46-FE0F-4F0107A87DEE}"/>
              </a:ext>
            </a:extLst>
          </p:cNvPr>
          <p:cNvSpPr txBox="1"/>
          <p:nvPr/>
        </p:nvSpPr>
        <p:spPr>
          <a:xfrm>
            <a:off x="1397000" y="35814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FF0AAE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600" b="1">
              <a:solidFill>
                <a:srgbClr val="FF0AA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8F892E4-385A-3BC2-C69D-1483555046A4}"/>
              </a:ext>
            </a:extLst>
          </p:cNvPr>
          <p:cNvSpPr txBox="1"/>
          <p:nvPr/>
        </p:nvSpPr>
        <p:spPr>
          <a:xfrm>
            <a:off x="2286000" y="3492500"/>
            <a:ext cx="2032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F1F1E"/>
                </a:solidFill>
                <a:latin typeface="Microsoft YaHei" panose="020B0503020204020204" pitchFamily="34" charset="-122"/>
              </a:rPr>
              <a:t>指标补齐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B7239A-044E-39EC-E60A-72DE2EBF0F01}"/>
              </a:ext>
            </a:extLst>
          </p:cNvPr>
          <p:cNvSpPr txBox="1"/>
          <p:nvPr/>
        </p:nvSpPr>
        <p:spPr>
          <a:xfrm>
            <a:off x="4572000" y="3517900"/>
            <a:ext cx="609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增加同比环比、目标达成、毛利、客流漏斗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4876921-C55A-D082-DDEC-008D9A488702}"/>
              </a:ext>
            </a:extLst>
          </p:cNvPr>
          <p:cNvCxnSpPr/>
          <p:nvPr/>
        </p:nvCxnSpPr>
        <p:spPr>
          <a:xfrm>
            <a:off x="1524000" y="3975100"/>
            <a:ext cx="0" cy="241300"/>
          </a:xfrm>
          <a:prstGeom prst="line">
            <a:avLst/>
          </a:prstGeom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E307233-E928-2A08-2834-F90352D1E05E}"/>
              </a:ext>
            </a:extLst>
          </p:cNvPr>
          <p:cNvSpPr/>
          <p:nvPr/>
        </p:nvSpPr>
        <p:spPr>
          <a:xfrm>
            <a:off x="1117600" y="4267200"/>
            <a:ext cx="812800" cy="48260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98985B7-8C04-3D83-15E6-1250F78D4671}"/>
              </a:ext>
            </a:extLst>
          </p:cNvPr>
          <p:cNvSpPr txBox="1"/>
          <p:nvPr/>
        </p:nvSpPr>
        <p:spPr>
          <a:xfrm>
            <a:off x="1397000" y="43688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FF0AAE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600" b="1">
              <a:solidFill>
                <a:srgbClr val="FF0AA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6B0B4C2-91EF-4355-BAF7-DAB72B46A107}"/>
              </a:ext>
            </a:extLst>
          </p:cNvPr>
          <p:cNvSpPr txBox="1"/>
          <p:nvPr/>
        </p:nvSpPr>
        <p:spPr>
          <a:xfrm>
            <a:off x="2286000" y="4279900"/>
            <a:ext cx="2032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F1F1E"/>
                </a:solidFill>
                <a:latin typeface="Microsoft YaHei" panose="020B0503020204020204" pitchFamily="34" charset="-122"/>
              </a:rPr>
              <a:t>经营下钻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9161936-62B8-962A-691E-8CFEFC0C0721}"/>
              </a:ext>
            </a:extLst>
          </p:cNvPr>
          <p:cNvSpPr txBox="1"/>
          <p:nvPr/>
        </p:nvSpPr>
        <p:spPr>
          <a:xfrm>
            <a:off x="4572000" y="4305300"/>
            <a:ext cx="609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商品排行、库存尺码、门店销量、品类钻取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C714BA7-9A93-9341-58E0-94CFCAEDEF87}"/>
              </a:ext>
            </a:extLst>
          </p:cNvPr>
          <p:cNvCxnSpPr/>
          <p:nvPr/>
        </p:nvCxnSpPr>
        <p:spPr>
          <a:xfrm>
            <a:off x="1524000" y="4762500"/>
            <a:ext cx="0" cy="241300"/>
          </a:xfrm>
          <a:prstGeom prst="line">
            <a:avLst/>
          </a:prstGeom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D3EB552-C326-F872-5714-60828D90C63B}"/>
              </a:ext>
            </a:extLst>
          </p:cNvPr>
          <p:cNvSpPr/>
          <p:nvPr/>
        </p:nvSpPr>
        <p:spPr>
          <a:xfrm>
            <a:off x="1117600" y="5054600"/>
            <a:ext cx="812800" cy="48260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3CE6314-DA77-B5B2-9CDE-8D059D0594DD}"/>
              </a:ext>
            </a:extLst>
          </p:cNvPr>
          <p:cNvSpPr txBox="1"/>
          <p:nvPr/>
        </p:nvSpPr>
        <p:spPr>
          <a:xfrm>
            <a:off x="1397000" y="51562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FF0AAE"/>
                </a:solidFill>
                <a:latin typeface="Microsoft YaHei" panose="020B0503020204020204" pitchFamily="34" charset="-122"/>
              </a:rPr>
              <a:t>5</a:t>
            </a:r>
            <a:endParaRPr lang="zh-CN" altLang="en-US" sz="1600" b="1">
              <a:solidFill>
                <a:srgbClr val="FF0AA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38A7FAA-8B2B-9D64-4D7F-5A3214471A60}"/>
              </a:ext>
            </a:extLst>
          </p:cNvPr>
          <p:cNvSpPr txBox="1"/>
          <p:nvPr/>
        </p:nvSpPr>
        <p:spPr>
          <a:xfrm>
            <a:off x="2286000" y="5067300"/>
            <a:ext cx="2032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F1F1E"/>
                </a:solidFill>
                <a:latin typeface="Microsoft YaHei" panose="020B0503020204020204" pitchFamily="34" charset="-122"/>
              </a:rPr>
              <a:t>成品固化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36EEC0B-6FBC-18B8-DA5B-BC748A2882C9}"/>
              </a:ext>
            </a:extLst>
          </p:cNvPr>
          <p:cNvSpPr txBox="1"/>
          <p:nvPr/>
        </p:nvSpPr>
        <p:spPr>
          <a:xfrm>
            <a:off x="4572000" y="5092700"/>
            <a:ext cx="609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自动更新脚本、内嵌数据、视觉统一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4C077E9-E388-35C7-562D-056626D19745}"/>
              </a:ext>
            </a:extLst>
          </p:cNvPr>
          <p:cNvSpPr txBox="1"/>
          <p:nvPr/>
        </p:nvSpPr>
        <p:spPr>
          <a:xfrm>
            <a:off x="1143000" y="5918200"/>
            <a:ext cx="9525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文件夹中的多个 “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before”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版本记录了真实迭代轨迹：从排行、图片、库存、售罄、生命周期到预警中心逐步补齐。</a:t>
            </a:r>
          </a:p>
        </p:txBody>
      </p:sp>
    </p:spTree>
    <p:extLst>
      <p:ext uri="{BB962C8B-B14F-4D97-AF65-F5344CB8AC3E}">
        <p14:creationId xmlns:p14="http://schemas.microsoft.com/office/powerpoint/2010/main" val="1173903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E24A631-BB1B-2CD1-23B4-26CAE5E97166}"/>
              </a:ext>
            </a:extLst>
          </p:cNvPr>
          <p:cNvSpPr txBox="1"/>
          <p:nvPr/>
        </p:nvSpPr>
        <p:spPr>
          <a:xfrm>
            <a:off x="508000" y="355600"/>
            <a:ext cx="381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000">
                <a:solidFill>
                  <a:srgbClr val="646460"/>
                </a:solidFill>
                <a:latin typeface="Microsoft YaHei" panose="020B0503020204020204" pitchFamily="34" charset="-122"/>
              </a:rPr>
              <a:t>实践汇报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6CB8D0-031E-F152-F378-986AA5F77E40}"/>
              </a:ext>
            </a:extLst>
          </p:cNvPr>
          <p:cNvSpPr txBox="1"/>
          <p:nvPr/>
        </p:nvSpPr>
        <p:spPr>
          <a:xfrm>
            <a:off x="508000" y="66040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1F1F1E"/>
                </a:solidFill>
                <a:latin typeface="Microsoft YaHei" panose="020B0503020204020204" pitchFamily="34" charset="-122"/>
              </a:rPr>
              <a:t>成品展示：经营总览与预警中心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315934F-3E63-AF4D-6E3F-6BAFD52CAA12}"/>
              </a:ext>
            </a:extLst>
          </p:cNvPr>
          <p:cNvCxnSpPr/>
          <p:nvPr/>
        </p:nvCxnSpPr>
        <p:spPr>
          <a:xfrm>
            <a:off x="508000" y="1320800"/>
            <a:ext cx="11176000" cy="0"/>
          </a:xfrm>
          <a:prstGeom prst="line">
            <a:avLst/>
          </a:prstGeom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CE8CF3F8-9DFF-7085-8407-6C70FC98B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514198"/>
            <a:ext cx="5748634" cy="323559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253352B-D2E7-263B-32C6-410C64B2B867}"/>
              </a:ext>
            </a:extLst>
          </p:cNvPr>
          <p:cNvSpPr txBox="1"/>
          <p:nvPr/>
        </p:nvSpPr>
        <p:spPr>
          <a:xfrm>
            <a:off x="6883399" y="1514198"/>
            <a:ext cx="4529667" cy="135934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 sz="1500" dirty="0">
                <a:solidFill>
                  <a:srgbClr val="1F1F1E"/>
                </a:solidFill>
                <a:latin typeface="Microsoft YaHei" panose="020B0503020204020204" pitchFamily="34" charset="-122"/>
              </a:rPr>
              <a:t>打开即显示全部门店汇总，也可切换到单店。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 sz="1500" dirty="0">
                <a:solidFill>
                  <a:srgbClr val="1F1F1E"/>
                </a:solidFill>
                <a:latin typeface="Microsoft YaHei" panose="020B0503020204020204" pitchFamily="34" charset="-122"/>
              </a:rPr>
              <a:t>默认当日视角，同时保留本周、本月、上周、上月和自定义周期。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 sz="1500" dirty="0">
                <a:solidFill>
                  <a:srgbClr val="1F1F1E"/>
                </a:solidFill>
                <a:latin typeface="Microsoft YaHei" panose="020B0503020204020204" pitchFamily="34" charset="-122"/>
              </a:rPr>
              <a:t>经营预警把库存压力、售罄率等异常前置，帮助先看风险再看明细。</a:t>
            </a:r>
          </a:p>
        </p:txBody>
      </p:sp>
    </p:spTree>
    <p:extLst>
      <p:ext uri="{BB962C8B-B14F-4D97-AF65-F5344CB8AC3E}">
        <p14:creationId xmlns:p14="http://schemas.microsoft.com/office/powerpoint/2010/main" val="1376894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8F9A94-EFE5-BAF3-DA95-A535BC4ADA7C}"/>
              </a:ext>
            </a:extLst>
          </p:cNvPr>
          <p:cNvSpPr txBox="1"/>
          <p:nvPr/>
        </p:nvSpPr>
        <p:spPr>
          <a:xfrm>
            <a:off x="508000" y="355600"/>
            <a:ext cx="381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000">
                <a:solidFill>
                  <a:srgbClr val="646460"/>
                </a:solidFill>
                <a:latin typeface="Microsoft YaHei" panose="020B0503020204020204" pitchFamily="34" charset="-122"/>
              </a:rPr>
              <a:t>实践汇报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C8DDD9-72FA-923B-CEFC-38951ABFD1BE}"/>
              </a:ext>
            </a:extLst>
          </p:cNvPr>
          <p:cNvSpPr txBox="1"/>
          <p:nvPr/>
        </p:nvSpPr>
        <p:spPr>
          <a:xfrm>
            <a:off x="508000" y="66040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1F1F1E"/>
                </a:solidFill>
                <a:latin typeface="Microsoft YaHei" panose="020B0503020204020204" pitchFamily="34" charset="-122"/>
              </a:rPr>
              <a:t>成品展示：门店对比、库存结构与商品排行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B2F91AF-E2B8-7DA3-B0EC-3D3BA749415C}"/>
              </a:ext>
            </a:extLst>
          </p:cNvPr>
          <p:cNvCxnSpPr/>
          <p:nvPr/>
        </p:nvCxnSpPr>
        <p:spPr>
          <a:xfrm>
            <a:off x="508000" y="1320800"/>
            <a:ext cx="11176000" cy="0"/>
          </a:xfrm>
          <a:prstGeom prst="line">
            <a:avLst/>
          </a:prstGeom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F8063E68-CCB9-536E-157F-6A5F4763E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886" y="1651332"/>
            <a:ext cx="5459874" cy="307306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03025F3-EC1A-5DA9-7D73-679F46CF5C28}"/>
              </a:ext>
            </a:extLst>
          </p:cNvPr>
          <p:cNvSpPr txBox="1"/>
          <p:nvPr/>
        </p:nvSpPr>
        <p:spPr>
          <a:xfrm>
            <a:off x="889000" y="6096000"/>
            <a:ext cx="10160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646460"/>
                </a:solidFill>
                <a:latin typeface="Microsoft YaHei" panose="020B0503020204020204" pitchFamily="34" charset="-122"/>
              </a:rPr>
              <a:t>左：门店核心指标与库存结构；右：畅销款式 </a:t>
            </a:r>
            <a:r>
              <a:rPr lang="en-US" altLang="zh-CN" sz="1200" b="1">
                <a:solidFill>
                  <a:srgbClr val="646460"/>
                </a:solidFill>
                <a:latin typeface="Microsoft YaHei" panose="020B0503020204020204" pitchFamily="34" charset="-122"/>
              </a:rPr>
              <a:t>TOP10</a:t>
            </a:r>
            <a:r>
              <a:rPr lang="zh-CN" altLang="en-US" sz="1200" b="1">
                <a:solidFill>
                  <a:srgbClr val="646460"/>
                </a:solidFill>
                <a:latin typeface="Microsoft YaHei" panose="020B0503020204020204" pitchFamily="34" charset="-122"/>
              </a:rPr>
              <a:t>，支持按销售额、销量、毛利和品类切换。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57EA8BF-CEDD-D72D-D95B-F4F5EA547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823" y="1651331"/>
            <a:ext cx="5278291" cy="306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628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941259A-8EB3-AF5F-ACBB-8FFCAFDEC122}"/>
              </a:ext>
            </a:extLst>
          </p:cNvPr>
          <p:cNvSpPr txBox="1"/>
          <p:nvPr/>
        </p:nvSpPr>
        <p:spPr>
          <a:xfrm>
            <a:off x="508000" y="355600"/>
            <a:ext cx="381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000">
                <a:solidFill>
                  <a:srgbClr val="646460"/>
                </a:solidFill>
                <a:latin typeface="Microsoft YaHei" panose="020B0503020204020204" pitchFamily="34" charset="-122"/>
              </a:rPr>
              <a:t>实践汇报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BEF9DC-9A98-1624-3CDF-8DA8E88670F6}"/>
              </a:ext>
            </a:extLst>
          </p:cNvPr>
          <p:cNvSpPr txBox="1"/>
          <p:nvPr/>
        </p:nvSpPr>
        <p:spPr>
          <a:xfrm>
            <a:off x="508000" y="66040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1F1F1E"/>
                </a:solidFill>
                <a:latin typeface="Microsoft YaHei" panose="020B0503020204020204" pitchFamily="34" charset="-122"/>
              </a:rPr>
              <a:t>已经能读出的经营信号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8FB6CEB-0999-808E-7BB7-E1489F9417BE}"/>
              </a:ext>
            </a:extLst>
          </p:cNvPr>
          <p:cNvCxnSpPr/>
          <p:nvPr/>
        </p:nvCxnSpPr>
        <p:spPr>
          <a:xfrm>
            <a:off x="508000" y="1320800"/>
            <a:ext cx="11176000" cy="0"/>
          </a:xfrm>
          <a:prstGeom prst="line">
            <a:avLst/>
          </a:prstGeom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8FFE02C-6BD3-A424-E69D-23376F0CA42C}"/>
              </a:ext>
            </a:extLst>
          </p:cNvPr>
          <p:cNvSpPr/>
          <p:nvPr/>
        </p:nvSpPr>
        <p:spPr>
          <a:xfrm>
            <a:off x="698500" y="1841500"/>
            <a:ext cx="51435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C389F1-B0A2-98CE-935E-D09DB6F6286F}"/>
              </a:ext>
            </a:extLst>
          </p:cNvPr>
          <p:cNvSpPr/>
          <p:nvPr/>
        </p:nvSpPr>
        <p:spPr>
          <a:xfrm>
            <a:off x="698500" y="1841500"/>
            <a:ext cx="101600" cy="1600200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6D0D6F-7E81-244C-6901-087411B05524}"/>
              </a:ext>
            </a:extLst>
          </p:cNvPr>
          <p:cNvSpPr txBox="1"/>
          <p:nvPr/>
        </p:nvSpPr>
        <p:spPr>
          <a:xfrm>
            <a:off x="1003300" y="20955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当日汇总销售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88DDC92-58B3-F166-6E94-B182CC58D55B}"/>
              </a:ext>
            </a:extLst>
          </p:cNvPr>
          <p:cNvSpPr txBox="1"/>
          <p:nvPr/>
        </p:nvSpPr>
        <p:spPr>
          <a:xfrm>
            <a:off x="1003300" y="2400300"/>
            <a:ext cx="190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1F1F1E"/>
                </a:solidFill>
                <a:latin typeface="Microsoft YaHei" panose="020B0503020204020204" pitchFamily="34" charset="-122"/>
              </a:rPr>
              <a:t>¥40,216</a:t>
            </a:r>
            <a:endParaRPr lang="zh-CN" altLang="en-US" sz="2200" b="1">
              <a:solidFill>
                <a:srgbClr val="1F1F1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5DAC68-9CC0-CBAE-27FB-9E2399948CBA}"/>
              </a:ext>
            </a:extLst>
          </p:cNvPr>
          <p:cNvSpPr txBox="1"/>
          <p:nvPr/>
        </p:nvSpPr>
        <p:spPr>
          <a:xfrm>
            <a:off x="3111500" y="2197100"/>
            <a:ext cx="2349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环比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+155.5%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，同比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+120.8%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，销售动能明显抬升。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9C28175-D8B2-CB44-314C-728867578DC3}"/>
              </a:ext>
            </a:extLst>
          </p:cNvPr>
          <p:cNvSpPr/>
          <p:nvPr/>
        </p:nvSpPr>
        <p:spPr>
          <a:xfrm>
            <a:off x="6350000" y="1841500"/>
            <a:ext cx="51435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2F55F0-4F56-58E4-C817-5F4BE79B74CD}"/>
              </a:ext>
            </a:extLst>
          </p:cNvPr>
          <p:cNvSpPr/>
          <p:nvPr/>
        </p:nvSpPr>
        <p:spPr>
          <a:xfrm>
            <a:off x="6350000" y="1841500"/>
            <a:ext cx="101600" cy="1600200"/>
          </a:xfrm>
          <a:prstGeom prst="rect">
            <a:avLst/>
          </a:prstGeom>
          <a:solidFill>
            <a:srgbClr val="FF0AAE"/>
          </a:solidFill>
          <a:ln>
            <a:solidFill>
              <a:srgbClr val="FF0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09E645-E29F-A7EC-ADD8-E85E30B8788C}"/>
              </a:ext>
            </a:extLst>
          </p:cNvPr>
          <p:cNvSpPr txBox="1"/>
          <p:nvPr/>
        </p:nvSpPr>
        <p:spPr>
          <a:xfrm>
            <a:off x="6654800" y="20955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毛利质量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FA9B5A-0A20-F828-0EA8-4CD269BC388A}"/>
              </a:ext>
            </a:extLst>
          </p:cNvPr>
          <p:cNvSpPr txBox="1"/>
          <p:nvPr/>
        </p:nvSpPr>
        <p:spPr>
          <a:xfrm>
            <a:off x="6654800" y="2400300"/>
            <a:ext cx="190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1F1F1E"/>
                </a:solidFill>
                <a:latin typeface="Microsoft YaHei" panose="020B0503020204020204" pitchFamily="34" charset="-122"/>
              </a:rPr>
              <a:t>63.5%</a:t>
            </a:r>
            <a:endParaRPr lang="zh-CN" altLang="en-US" sz="2200" b="1">
              <a:solidFill>
                <a:srgbClr val="1F1F1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06F85B0-2CD4-061C-BEF0-8D8EAE7B1F43}"/>
              </a:ext>
            </a:extLst>
          </p:cNvPr>
          <p:cNvSpPr txBox="1"/>
          <p:nvPr/>
        </p:nvSpPr>
        <p:spPr>
          <a:xfrm>
            <a:off x="8763000" y="2197100"/>
            <a:ext cx="2349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毛利率保持在较高水平，毛利额当日约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2.6 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万。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0989EEB-ED25-BB19-02F6-5CE9C3D8B67F}"/>
              </a:ext>
            </a:extLst>
          </p:cNvPr>
          <p:cNvSpPr/>
          <p:nvPr/>
        </p:nvSpPr>
        <p:spPr>
          <a:xfrm>
            <a:off x="698500" y="3810000"/>
            <a:ext cx="51435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86856B-7952-6D19-6BA3-8F330AD21F1A}"/>
              </a:ext>
            </a:extLst>
          </p:cNvPr>
          <p:cNvSpPr/>
          <p:nvPr/>
        </p:nvSpPr>
        <p:spPr>
          <a:xfrm>
            <a:off x="698500" y="3810000"/>
            <a:ext cx="101600" cy="1600200"/>
          </a:xfrm>
          <a:prstGeom prst="rect">
            <a:avLst/>
          </a:prstGeom>
          <a:solidFill>
            <a:srgbClr val="F6992E"/>
          </a:solidFill>
          <a:ln>
            <a:solidFill>
              <a:srgbClr val="F699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1217665-2116-C6AA-AAF2-FBA7DB44D2DE}"/>
              </a:ext>
            </a:extLst>
          </p:cNvPr>
          <p:cNvSpPr txBox="1"/>
          <p:nvPr/>
        </p:nvSpPr>
        <p:spPr>
          <a:xfrm>
            <a:off x="1003300" y="40640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客流转化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D77F5A2-5F7A-638C-49E2-5EE8E2C74164}"/>
              </a:ext>
            </a:extLst>
          </p:cNvPr>
          <p:cNvSpPr txBox="1"/>
          <p:nvPr/>
        </p:nvSpPr>
        <p:spPr>
          <a:xfrm>
            <a:off x="1003300" y="4368800"/>
            <a:ext cx="190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1F1F1E"/>
                </a:solidFill>
                <a:latin typeface="Microsoft YaHei" panose="020B0503020204020204" pitchFamily="34" charset="-122"/>
              </a:rPr>
              <a:t>3.0%</a:t>
            </a:r>
            <a:endParaRPr lang="zh-CN" altLang="en-US" sz="2200" b="1">
              <a:solidFill>
                <a:srgbClr val="1F1F1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A356786-0779-B6F7-F068-C8ED98BC838A}"/>
              </a:ext>
            </a:extLst>
          </p:cNvPr>
          <p:cNvSpPr txBox="1"/>
          <p:nvPr/>
        </p:nvSpPr>
        <p:spPr>
          <a:xfrm>
            <a:off x="3111500" y="4165600"/>
            <a:ext cx="2349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进店率 </a:t>
            </a:r>
            <a:r>
              <a:rPr lang="en-US" altLang="zh-CN" sz="1200">
                <a:solidFill>
                  <a:srgbClr val="646460"/>
                </a:solidFill>
                <a:latin typeface="Microsoft YaHei" panose="020B0503020204020204" pitchFamily="34" charset="-122"/>
              </a:rPr>
              <a:t>20.7%</a:t>
            </a:r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，成交率仍是后续门店动作重点。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5C11735-1F04-61DC-BEF8-4FB85105E550}"/>
              </a:ext>
            </a:extLst>
          </p:cNvPr>
          <p:cNvSpPr/>
          <p:nvPr/>
        </p:nvSpPr>
        <p:spPr>
          <a:xfrm>
            <a:off x="6350000" y="3810000"/>
            <a:ext cx="51435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E497776-3633-D7B2-6C1E-FE8A2D7318A9}"/>
              </a:ext>
            </a:extLst>
          </p:cNvPr>
          <p:cNvSpPr/>
          <p:nvPr/>
        </p:nvSpPr>
        <p:spPr>
          <a:xfrm>
            <a:off x="6350000" y="3810000"/>
            <a:ext cx="101600" cy="1600200"/>
          </a:xfrm>
          <a:prstGeom prst="rect">
            <a:avLst/>
          </a:prstGeom>
          <a:solidFill>
            <a:srgbClr val="55AA70"/>
          </a:solidFill>
          <a:ln>
            <a:solidFill>
              <a:srgbClr val="55AA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E6EDDA0-FFBC-043D-5106-194A4F3566B8}"/>
              </a:ext>
            </a:extLst>
          </p:cNvPr>
          <p:cNvSpPr txBox="1"/>
          <p:nvPr/>
        </p:nvSpPr>
        <p:spPr>
          <a:xfrm>
            <a:off x="6654800" y="40640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646460"/>
                </a:solidFill>
                <a:latin typeface="Microsoft YaHei" panose="020B0503020204020204" pitchFamily="34" charset="-122"/>
              </a:rPr>
              <a:t>库存压力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B1C275A-A3E1-A03D-7DCB-8D41AEA6976F}"/>
              </a:ext>
            </a:extLst>
          </p:cNvPr>
          <p:cNvSpPr txBox="1"/>
          <p:nvPr/>
        </p:nvSpPr>
        <p:spPr>
          <a:xfrm>
            <a:off x="6654800" y="4368800"/>
            <a:ext cx="190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1F1F1E"/>
                </a:solidFill>
                <a:latin typeface="Microsoft YaHei" panose="020B0503020204020204" pitchFamily="34" charset="-122"/>
              </a:rPr>
              <a:t>女鞋 </a:t>
            </a:r>
            <a:r>
              <a:rPr lang="en-US" altLang="zh-CN" sz="2200" b="1">
                <a:solidFill>
                  <a:srgbClr val="1F1F1E"/>
                </a:solidFill>
                <a:latin typeface="Microsoft YaHei" panose="020B0503020204020204" pitchFamily="34" charset="-122"/>
              </a:rPr>
              <a:t>63.8%</a:t>
            </a:r>
            <a:endParaRPr lang="zh-CN" altLang="en-US" sz="2200" b="1">
              <a:solidFill>
                <a:srgbClr val="1F1F1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0363372-65C5-433F-8FBC-E13300074655}"/>
              </a:ext>
            </a:extLst>
          </p:cNvPr>
          <p:cNvSpPr txBox="1"/>
          <p:nvPr/>
        </p:nvSpPr>
        <p:spPr>
          <a:xfrm>
            <a:off x="8763000" y="4165600"/>
            <a:ext cx="2349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46460"/>
                </a:solidFill>
                <a:latin typeface="Microsoft YaHei" panose="020B0503020204020204" pitchFamily="34" charset="-122"/>
              </a:rPr>
              <a:t>女鞋和服装库存占比高，需结合售罄率做陈列、调拨或促销。</a:t>
            </a:r>
          </a:p>
        </p:txBody>
      </p:sp>
    </p:spTree>
    <p:extLst>
      <p:ext uri="{BB962C8B-B14F-4D97-AF65-F5344CB8AC3E}">
        <p14:creationId xmlns:p14="http://schemas.microsoft.com/office/powerpoint/2010/main" val="3005363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66E022A-9E75-F967-0C9A-7830858DE48A}"/>
              </a:ext>
            </a:extLst>
          </p:cNvPr>
          <p:cNvSpPr txBox="1"/>
          <p:nvPr/>
        </p:nvSpPr>
        <p:spPr>
          <a:xfrm>
            <a:off x="508000" y="355600"/>
            <a:ext cx="381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646460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000">
                <a:solidFill>
                  <a:srgbClr val="646460"/>
                </a:solidFill>
                <a:latin typeface="Microsoft YaHei" panose="020B0503020204020204" pitchFamily="34" charset="-122"/>
              </a:rPr>
              <a:t>实践汇报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F62FCC-3EE3-1704-4783-478804453BBA}"/>
              </a:ext>
            </a:extLst>
          </p:cNvPr>
          <p:cNvSpPr txBox="1"/>
          <p:nvPr/>
        </p:nvSpPr>
        <p:spPr>
          <a:xfrm>
            <a:off x="508000" y="66040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1F1F1E"/>
                </a:solidFill>
                <a:latin typeface="Microsoft YaHei" panose="020B0503020204020204" pitchFamily="34" charset="-122"/>
              </a:rPr>
              <a:t>沉淀价值：这次实践留下的不只是一个页面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5EBF760-D475-60AB-1B5E-F0210614AF47}"/>
              </a:ext>
            </a:extLst>
          </p:cNvPr>
          <p:cNvCxnSpPr/>
          <p:nvPr/>
        </p:nvCxnSpPr>
        <p:spPr>
          <a:xfrm>
            <a:off x="508000" y="1320800"/>
            <a:ext cx="11176000" cy="0"/>
          </a:xfrm>
          <a:prstGeom prst="line">
            <a:avLst/>
          </a:prstGeom>
          <a:ln>
            <a:solidFill>
              <a:srgbClr val="E1E1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2D483B5B-811D-11C4-6C40-2658E90D386C}"/>
              </a:ext>
            </a:extLst>
          </p:cNvPr>
          <p:cNvSpPr txBox="1"/>
          <p:nvPr/>
        </p:nvSpPr>
        <p:spPr>
          <a:xfrm>
            <a:off x="1016000" y="1841500"/>
            <a:ext cx="9652000" cy="16158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 sz="1700">
                <a:solidFill>
                  <a:srgbClr val="1F1F1E"/>
                </a:solidFill>
                <a:latin typeface="Microsoft YaHei" panose="020B0503020204020204" pitchFamily="34" charset="-122"/>
              </a:rPr>
              <a:t>效率价值：</a:t>
            </a:r>
            <a:r>
              <a:rPr lang="en-US" altLang="zh-CN" sz="1700">
                <a:solidFill>
                  <a:srgbClr val="1F1F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700">
                <a:solidFill>
                  <a:srgbClr val="1F1F1E"/>
                </a:solidFill>
                <a:latin typeface="Microsoft YaHei" panose="020B0503020204020204" pitchFamily="34" charset="-122"/>
              </a:rPr>
              <a:t>辅助完成字段识别、口径校验、代码迭代和页面调优，显著缩短从想法到可用成品的周期。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 sz="1700">
                <a:solidFill>
                  <a:srgbClr val="1F1F1E"/>
                </a:solidFill>
                <a:latin typeface="Microsoft YaHei" panose="020B0503020204020204" pitchFamily="34" charset="-122"/>
              </a:rPr>
              <a:t>管理价值：将销售、客流、目标、库存、商品集中到一个视图，减少跨表切换和人工解释成本。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 sz="1700">
                <a:solidFill>
                  <a:srgbClr val="1F1F1E"/>
                </a:solidFill>
                <a:latin typeface="Microsoft YaHei" panose="020B0503020204020204" pitchFamily="34" charset="-122"/>
              </a:rPr>
              <a:t>复用价值：同类门店、区域、品类看板可以沿用本次数据口径和组件结构。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 sz="1700">
                <a:solidFill>
                  <a:srgbClr val="1F1F1E"/>
                </a:solidFill>
                <a:latin typeface="Microsoft YaHei" panose="020B0503020204020204" pitchFamily="34" charset="-122"/>
              </a:rPr>
              <a:t>能力价值：团队获得了一套“业务问题 → 数据口径 → 原型 → 迭代 → 分享”的 </a:t>
            </a:r>
            <a:r>
              <a:rPr lang="en-US" altLang="zh-CN" sz="1700">
                <a:solidFill>
                  <a:srgbClr val="1F1F1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700">
                <a:solidFill>
                  <a:srgbClr val="1F1F1E"/>
                </a:solidFill>
                <a:latin typeface="Microsoft YaHei" panose="020B0503020204020204" pitchFamily="34" charset="-122"/>
              </a:rPr>
              <a:t>协作方法。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44D9C66-7C34-8281-57C0-304E169E7858}"/>
              </a:ext>
            </a:extLst>
          </p:cNvPr>
          <p:cNvSpPr/>
          <p:nvPr/>
        </p:nvSpPr>
        <p:spPr>
          <a:xfrm>
            <a:off x="1016000" y="4889500"/>
            <a:ext cx="9652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E1E1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F9D25D-1D41-28AD-F872-3C9EAA9E8FF7}"/>
              </a:ext>
            </a:extLst>
          </p:cNvPr>
          <p:cNvSpPr txBox="1"/>
          <p:nvPr/>
        </p:nvSpPr>
        <p:spPr>
          <a:xfrm>
            <a:off x="1333500" y="5143500"/>
            <a:ext cx="9017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1F1F1E"/>
                </a:solidFill>
                <a:latin typeface="Microsoft YaHei" panose="020B0503020204020204" pitchFamily="34" charset="-122"/>
              </a:rPr>
              <a:t>下一步建议：接入更稳定的数据更新机制，补充异常阈值配置、门店行动记录和周期性复盘导出，让看板从“展示工具”升级为“运营闭环工具”。</a:t>
            </a:r>
          </a:p>
        </p:txBody>
      </p:sp>
    </p:spTree>
    <p:extLst>
      <p:ext uri="{BB962C8B-B14F-4D97-AF65-F5344CB8AC3E}">
        <p14:creationId xmlns:p14="http://schemas.microsoft.com/office/powerpoint/2010/main" val="2836885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737</Words>
  <Application>Microsoft Office PowerPoint</Application>
  <PresentationFormat>宽屏</PresentationFormat>
  <Paragraphs>79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</cp:revision>
  <dcterms:created xsi:type="dcterms:W3CDTF">2026-06-26T03:59:08Z</dcterms:created>
  <dcterms:modified xsi:type="dcterms:W3CDTF">2026-06-26T05:14:09Z</dcterms:modified>
</cp:coreProperties>
</file>