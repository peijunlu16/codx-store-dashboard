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EB990-82D2-B33D-8C2B-F2920E136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F60388-992E-1497-7E7B-B29DFCDBC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4555C8-FE26-DD21-88FC-C1E9B94B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5F3DD7-5919-1A08-3E38-4E7A6764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180D37-2285-508A-3FAD-754ED7A7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11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32766-D181-E949-9EBB-9C4B336D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4D1931-1730-A8E6-D87B-70D3BD392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4989F-47D3-7567-34E3-A4D07DACC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CB2077-F778-BDBE-6ED7-45A9DA57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9FE253-C80F-B291-E833-0371953D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7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18690-FE3C-C822-66A4-2A9AAED2A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AA4D52-6A63-B80A-B081-B1C550050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3D26FA-9724-AD8A-F973-D9179E59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E7815A-91EF-43C1-8427-50BAFD02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B0E3A8-EBC9-3AB4-0F7B-F499E7D0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61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EB15F-9638-229B-BBFF-A07B34B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B78987-10D8-8F4C-17A9-AFFA13449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A74761-1EA3-3423-9EDA-6C5C98909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861072-721E-0EA6-11B2-C56065BE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DFE53B-FFDF-2F5E-77DE-5BFEAE4B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3D167D-5E95-CB39-543C-FDFC0BE0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05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9F9F5-4C3D-3C8D-0AFF-32BA5545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2944A5-48A0-C77B-63FD-2FACBB639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9D221D-5E76-D4C3-9B44-AB114D98B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1A7DFA-F6B6-3FF6-550E-F8565A31D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9296E3-F360-6D5D-DE25-26A7BC932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17347-0334-F35B-2DA4-C87E6A160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F86A7D-4FE8-C61D-E456-68B93B44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D8834D-E6E3-12A8-5D5C-E11EFDF8D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05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2ADD3-AA10-EE5B-BE9E-C53F230A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ACBC43-C389-71DF-1F5C-650AFBB1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A96ECA-40CF-EF27-93AD-77682FB9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CCF34F-7180-1151-BA7C-45574DA0F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21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C2B20E-46CB-B0A9-0A8F-F87C21B05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22D831-629F-DD94-A7C8-41008DD3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AF8520-F47E-F157-C7CC-38C433FD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672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2CCDD-671E-FC8A-9ECF-289C3E2D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7E0744-76DD-29D5-FE8C-627F9AF59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FB6F5E-7152-E987-0CA6-762C000D4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AB8B64-EFD7-F122-C243-061F1118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7A3260-F830-A4CC-B30C-183DA9CF8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EA3E12-7FB4-628A-34AA-1ACD1C8C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846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67FB3-39F7-4ECE-BD56-8C873AA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48C04A-088C-7135-587D-415E55B3D5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D5C40C-D2B2-5840-103F-EEEFDA16A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2E01B1-1ADF-997F-714C-D5FA3C91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C954C3-3F4A-9C56-F1C0-B7B7F28E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64C806-9E64-D98C-1417-DE9CA438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924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C5FA2-BBFE-4F75-49A2-C64F1AFB1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DF21A0-2BA1-E01A-A764-9FEF361A0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76A76-7DD3-BACF-8BF9-6D65914F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4D7E8B-0E4B-B87C-1DA7-C6DB6225F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94490-2BEB-810A-FD7B-5889D8148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CE60BF-B7D4-8B1F-311A-78443D5D2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42A6D3-F108-16E9-81CC-B74DDD71C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FB1E47-6FBC-F640-1296-BF66FB4A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CAFE91-4138-9C9A-E44D-9024FFAF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FE3892-55F3-9697-5F91-C64CE7F8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02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E1E81E-5A34-3CD4-097B-C5344A6E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282A26-2329-7D4A-FC45-840A8989B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F23AEE-28F6-882A-46F6-4FDAF3599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02ABC-B73C-42BA-B8A6-092005BB1A05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452BB3-6A3D-DCAF-5FB2-5EEDC9847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FD7D2-3324-D882-6B36-7EEEF5923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6805B-F75C-4D04-B4D1-7986EA304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96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5701B1F-5A45-8726-FA5D-94D006950D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516"/>
          </a:solidFill>
          <a:ln>
            <a:solidFill>
              <a:srgbClr val="1315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BDFFA9-697F-C724-4A00-B576D1B09EDA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081637-70F5-FEF0-FAA5-A5313DF46BBA}"/>
              </a:ext>
            </a:extLst>
          </p:cNvPr>
          <p:cNvSpPr/>
          <p:nvPr/>
        </p:nvSpPr>
        <p:spPr>
          <a:xfrm>
            <a:off x="152400" y="0"/>
            <a:ext cx="76200" cy="6858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32579B-2689-697D-B1AF-EC14CB3B2E57}"/>
              </a:ext>
            </a:extLst>
          </p:cNvPr>
          <p:cNvSpPr txBox="1"/>
          <p:nvPr/>
        </p:nvSpPr>
        <p:spPr>
          <a:xfrm>
            <a:off x="736600" y="660400"/>
            <a:ext cx="457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DCE0E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 b="1">
                <a:solidFill>
                  <a:srgbClr val="DCE0E0"/>
                </a:solidFill>
                <a:latin typeface="Microsoft YaHei" panose="020B0503020204020204" pitchFamily="34" charset="-122"/>
              </a:rPr>
              <a:t>实践分享 </a:t>
            </a:r>
            <a:r>
              <a:rPr lang="en-US" altLang="zh-CN" sz="1400" b="1">
                <a:solidFill>
                  <a:srgbClr val="DCE0E0"/>
                </a:solidFill>
                <a:latin typeface="Microsoft YaHei" panose="020B0503020204020204" pitchFamily="34" charset="-122"/>
              </a:rPr>
              <a:t>· 2026.06</a:t>
            </a:r>
            <a:endParaRPr lang="zh-CN" altLang="en-US" sz="1400" b="1">
              <a:solidFill>
                <a:srgbClr val="DCE0E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6BCAF0-1D74-E242-836B-8FA4CE2BFBD1}"/>
              </a:ext>
            </a:extLst>
          </p:cNvPr>
          <p:cNvSpPr txBox="1"/>
          <p:nvPr/>
        </p:nvSpPr>
        <p:spPr>
          <a:xfrm>
            <a:off x="736600" y="1371600"/>
            <a:ext cx="838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在销售运营分析中的实践应用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3D5116-E58E-9785-6039-29CB2F9CC53B}"/>
              </a:ext>
            </a:extLst>
          </p:cNvPr>
          <p:cNvSpPr txBox="1"/>
          <p:nvPr/>
        </p:nvSpPr>
        <p:spPr>
          <a:xfrm>
            <a:off x="762000" y="2260600"/>
            <a:ext cx="7366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900">
                <a:solidFill>
                  <a:srgbClr val="D2D6D8"/>
                </a:solidFill>
                <a:latin typeface="Microsoft YaHei" panose="020B0503020204020204" pitchFamily="34" charset="-122"/>
              </a:rPr>
              <a:t>从门店 </a:t>
            </a:r>
            <a:r>
              <a:rPr lang="en-US" altLang="zh-CN" sz="1900">
                <a:solidFill>
                  <a:srgbClr val="D2D6D8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900">
                <a:solidFill>
                  <a:srgbClr val="D2D6D8"/>
                </a:solidFill>
                <a:latin typeface="Microsoft YaHei" panose="020B0503020204020204" pitchFamily="34" charset="-122"/>
              </a:rPr>
              <a:t>数据源 → 可交互销售运营看板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28277BB-A358-8CCE-C866-7A626F2CCC6B}"/>
              </a:ext>
            </a:extLst>
          </p:cNvPr>
          <p:cNvSpPr/>
          <p:nvPr/>
        </p:nvSpPr>
        <p:spPr>
          <a:xfrm>
            <a:off x="762000" y="3175000"/>
            <a:ext cx="1320800" cy="330200"/>
          </a:xfrm>
          <a:prstGeom prst="roundRect">
            <a:avLst/>
          </a:prstGeom>
          <a:solidFill>
            <a:srgbClr val="EEF9FC"/>
          </a:solidFill>
          <a:ln>
            <a:solidFill>
              <a:srgbClr val="EEF9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EA6F66-7ED0-48E4-0EA5-CEEB3B2BAC82}"/>
              </a:ext>
            </a:extLst>
          </p:cNvPr>
          <p:cNvSpPr txBox="1"/>
          <p:nvPr/>
        </p:nvSpPr>
        <p:spPr>
          <a:xfrm>
            <a:off x="889000" y="3251200"/>
            <a:ext cx="1066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E1E1E"/>
                </a:solidFill>
                <a:latin typeface="Microsoft YaHei" panose="020B0503020204020204" pitchFamily="34" charset="-122"/>
              </a:rPr>
              <a:t>实际案例分享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C26A0CF-8148-BAD8-1217-697B9101964E}"/>
              </a:ext>
            </a:extLst>
          </p:cNvPr>
          <p:cNvSpPr/>
          <p:nvPr/>
        </p:nvSpPr>
        <p:spPr>
          <a:xfrm>
            <a:off x="2260600" y="3175000"/>
            <a:ext cx="1041400" cy="330200"/>
          </a:xfrm>
          <a:prstGeom prst="roundRect">
            <a:avLst/>
          </a:prstGeom>
          <a:solidFill>
            <a:srgbClr val="FFEEF9"/>
          </a:solidFill>
          <a:ln>
            <a:solidFill>
              <a:srgbClr val="FFEE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5BDF4C-DBFD-55B6-EBED-720207875564}"/>
              </a:ext>
            </a:extLst>
          </p:cNvPr>
          <p:cNvSpPr txBox="1"/>
          <p:nvPr/>
        </p:nvSpPr>
        <p:spPr>
          <a:xfrm>
            <a:off x="2387600" y="3251200"/>
            <a:ext cx="787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E1E1E"/>
                </a:solidFill>
                <a:latin typeface="Microsoft YaHei" panose="020B0503020204020204" pitchFamily="34" charset="-122"/>
              </a:rPr>
              <a:t>工作提效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CEF6069-28B1-93CE-4F92-445E9121F78F}"/>
              </a:ext>
            </a:extLst>
          </p:cNvPr>
          <p:cNvSpPr/>
          <p:nvPr/>
        </p:nvSpPr>
        <p:spPr>
          <a:xfrm>
            <a:off x="3479800" y="3175000"/>
            <a:ext cx="1041400" cy="330200"/>
          </a:xfrm>
          <a:prstGeom prst="roundRect">
            <a:avLst/>
          </a:prstGeom>
          <a:solidFill>
            <a:srgbClr val="FFF6E6"/>
          </a:solidFill>
          <a:ln>
            <a:solidFill>
              <a:srgbClr val="FFF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811C73-D7D6-1762-ECDF-20E6309D48DA}"/>
              </a:ext>
            </a:extLst>
          </p:cNvPr>
          <p:cNvSpPr txBox="1"/>
          <p:nvPr/>
        </p:nvSpPr>
        <p:spPr>
          <a:xfrm>
            <a:off x="3606800" y="3251200"/>
            <a:ext cx="787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E1E1E"/>
                </a:solidFill>
                <a:latin typeface="Microsoft YaHei" panose="020B0503020204020204" pitchFamily="34" charset="-122"/>
              </a:rPr>
              <a:t>使用感受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85E5E80-5C07-687D-CEAE-E919E820D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414" y="1436621"/>
            <a:ext cx="5137034" cy="289135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AB6FC1D-B846-D783-12D7-1F9CD7D330C5}"/>
              </a:ext>
            </a:extLst>
          </p:cNvPr>
          <p:cNvSpPr txBox="1"/>
          <p:nvPr/>
        </p:nvSpPr>
        <p:spPr>
          <a:xfrm>
            <a:off x="762000" y="6096000"/>
            <a:ext cx="228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4B9BA"/>
                </a:solidFill>
                <a:latin typeface="Microsoft YaHei" panose="020B0503020204020204" pitchFamily="34" charset="-122"/>
              </a:rPr>
              <a:t>DARE TO BE.</a:t>
            </a:r>
            <a:endParaRPr lang="zh-CN" altLang="en-US" sz="1000" b="1">
              <a:solidFill>
                <a:srgbClr val="B4B9B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601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6BF34C-73DB-AC42-C76D-AD6F88E9A702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01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背景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FF2032-C875-03F0-DF64-9F19B9849988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为什么要做这次 </a:t>
            </a:r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分享？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3259FE-C1B4-07B0-C886-F47853BE610C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老板关注的不只是“用了什么工具”，而是 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如何真正提升业务分析的产出质量。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9D4C24E-94F8-1357-8ABB-43BA24231CA7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11E17A7-61AD-B34C-14C6-7EC5CB25E731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2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22CC04F-CC69-3D29-F828-82AB1D5BE52E}"/>
              </a:ext>
            </a:extLst>
          </p:cNvPr>
          <p:cNvSpPr/>
          <p:nvPr/>
        </p:nvSpPr>
        <p:spPr>
          <a:xfrm>
            <a:off x="889000" y="2476500"/>
            <a:ext cx="3175000" cy="2159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EDC32F-D2C7-E562-4127-EE08BDE1F887}"/>
              </a:ext>
            </a:extLst>
          </p:cNvPr>
          <p:cNvSpPr/>
          <p:nvPr/>
        </p:nvSpPr>
        <p:spPr>
          <a:xfrm>
            <a:off x="889000" y="2476500"/>
            <a:ext cx="76200" cy="2159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AAF6BA-00B8-525B-9219-E32ACF148549}"/>
              </a:ext>
            </a:extLst>
          </p:cNvPr>
          <p:cNvSpPr txBox="1"/>
          <p:nvPr/>
        </p:nvSpPr>
        <p:spPr>
          <a:xfrm>
            <a:off x="1117600" y="27051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日常报告的痛点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A1E429-BDF7-D279-6D9F-7056B3005902}"/>
              </a:ext>
            </a:extLst>
          </p:cNvPr>
          <p:cNvSpPr txBox="1"/>
          <p:nvPr/>
        </p:nvSpPr>
        <p:spPr>
          <a:xfrm>
            <a:off x="1117600" y="3136900"/>
            <a:ext cx="2743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信息量大、重点不突出；销售、客流、库存经常分散在不同表里，汇报前还要二次加工。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C06EB5C-3FE1-D82F-EBBA-CBC6BD689C3D}"/>
              </a:ext>
            </a:extLst>
          </p:cNvPr>
          <p:cNvSpPr/>
          <p:nvPr/>
        </p:nvSpPr>
        <p:spPr>
          <a:xfrm>
            <a:off x="4508500" y="2476500"/>
            <a:ext cx="3175000" cy="2159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34E193-0299-25CA-4286-3EE1E6000933}"/>
              </a:ext>
            </a:extLst>
          </p:cNvPr>
          <p:cNvSpPr/>
          <p:nvPr/>
        </p:nvSpPr>
        <p:spPr>
          <a:xfrm>
            <a:off x="4508500" y="2476500"/>
            <a:ext cx="76200" cy="2159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5B9851-496E-C68A-5B5D-341319A81F1B}"/>
              </a:ext>
            </a:extLst>
          </p:cNvPr>
          <p:cNvSpPr txBox="1"/>
          <p:nvPr/>
        </p:nvSpPr>
        <p:spPr>
          <a:xfrm>
            <a:off x="4737100" y="27051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业务场景的要求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168EE36-3F99-651E-F6A9-B37889B7768B}"/>
              </a:ext>
            </a:extLst>
          </p:cNvPr>
          <p:cNvSpPr txBox="1"/>
          <p:nvPr/>
        </p:nvSpPr>
        <p:spPr>
          <a:xfrm>
            <a:off x="4737100" y="31369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经营复盘需要快速回答：哪家店好、为什么好、库存风险在哪里、接下来该怎么做。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9881408-B824-3842-8D9D-73B0BC3920D0}"/>
              </a:ext>
            </a:extLst>
          </p:cNvPr>
          <p:cNvSpPr/>
          <p:nvPr/>
        </p:nvSpPr>
        <p:spPr>
          <a:xfrm>
            <a:off x="8128000" y="2476500"/>
            <a:ext cx="3175000" cy="2159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3D4FE5-A4E2-495D-3EDD-6DEA810A5820}"/>
              </a:ext>
            </a:extLst>
          </p:cNvPr>
          <p:cNvSpPr/>
          <p:nvPr/>
        </p:nvSpPr>
        <p:spPr>
          <a:xfrm>
            <a:off x="8128000" y="2476500"/>
            <a:ext cx="76200" cy="2159000"/>
          </a:xfrm>
          <a:prstGeom prst="rect">
            <a:avLst/>
          </a:prstGeom>
          <a:solidFill>
            <a:srgbClr val="46A46C"/>
          </a:solidFill>
          <a:ln>
            <a:solidFill>
              <a:srgbClr val="46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EBDD12A-E5D3-87DF-9240-AF2C4FC37811}"/>
              </a:ext>
            </a:extLst>
          </p:cNvPr>
          <p:cNvSpPr txBox="1"/>
          <p:nvPr/>
        </p:nvSpPr>
        <p:spPr>
          <a:xfrm>
            <a:off x="8356600" y="27051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的切入点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FAC2F6-D169-A74C-5F8B-BC7D0A344F04}"/>
              </a:ext>
            </a:extLst>
          </p:cNvPr>
          <p:cNvSpPr txBox="1"/>
          <p:nvPr/>
        </p:nvSpPr>
        <p:spPr>
          <a:xfrm>
            <a:off x="8356600" y="31369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把“整理资料”转化为“结构化表达”和“可视化呈现”，让分析更快进入可讨论状态。</a:t>
            </a:r>
          </a:p>
        </p:txBody>
      </p:sp>
    </p:spTree>
    <p:extLst>
      <p:ext uri="{BB962C8B-B14F-4D97-AF65-F5344CB8AC3E}">
        <p14:creationId xmlns:p14="http://schemas.microsoft.com/office/powerpoint/2010/main" val="307673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8505811-4A1B-AFD3-5D8C-4D1440697FBC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02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真实案例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863427-A35A-712C-0A78-5E454983F73F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从门店 </a:t>
            </a:r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数据到“销售运营看板”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504A86-A808-8B18-40F5-607CB5AD0865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基于线下直营销售与库存数据，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辅助完成字段识别、指标聚合、可视化布局与页面生成。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E39AA04-6BA1-55F2-C864-BD2F800009C2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F4169CB-ECC4-F750-D651-17F0BF1C8BE3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3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4E47D4A-6B41-086E-2C22-581DA3D0307F}"/>
              </a:ext>
            </a:extLst>
          </p:cNvPr>
          <p:cNvSpPr/>
          <p:nvPr/>
        </p:nvSpPr>
        <p:spPr>
          <a:xfrm>
            <a:off x="889000" y="2413000"/>
            <a:ext cx="3175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703489-FF66-8B00-52D0-81FA074BF37B}"/>
              </a:ext>
            </a:extLst>
          </p:cNvPr>
          <p:cNvSpPr/>
          <p:nvPr/>
        </p:nvSpPr>
        <p:spPr>
          <a:xfrm>
            <a:off x="889000" y="2413000"/>
            <a:ext cx="76200" cy="2286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2C39BB-597D-057C-B26D-0090B36DAE70}"/>
              </a:ext>
            </a:extLst>
          </p:cNvPr>
          <p:cNvSpPr txBox="1"/>
          <p:nvPr/>
        </p:nvSpPr>
        <p:spPr>
          <a:xfrm>
            <a:off x="1117600" y="26416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 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原始 </a:t>
            </a:r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数据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634039-4544-EA5F-4BC4-3D83B5F89436}"/>
              </a:ext>
            </a:extLst>
          </p:cNvPr>
          <p:cNvSpPr txBox="1"/>
          <p:nvPr/>
        </p:nvSpPr>
        <p:spPr>
          <a:xfrm>
            <a:off x="1117600" y="3073400"/>
            <a:ext cx="27432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线下直营数据源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.xlsx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：销售、客流、成交、目标、毛利等。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门店库存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.xlsx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：店铺、品类、款式、尺码、可用库存等。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BCEB9E7-F6FC-2FD1-05E6-6F6369221009}"/>
              </a:ext>
            </a:extLst>
          </p:cNvPr>
          <p:cNvSpPr/>
          <p:nvPr/>
        </p:nvSpPr>
        <p:spPr>
          <a:xfrm>
            <a:off x="4508500" y="2413000"/>
            <a:ext cx="3175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EAE10D-8C87-21F4-73E7-EA8F59A76811}"/>
              </a:ext>
            </a:extLst>
          </p:cNvPr>
          <p:cNvSpPr/>
          <p:nvPr/>
        </p:nvSpPr>
        <p:spPr>
          <a:xfrm>
            <a:off x="4508500" y="2413000"/>
            <a:ext cx="76200" cy="2286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562470-27B2-C424-374F-D57B0438053B}"/>
              </a:ext>
            </a:extLst>
          </p:cNvPr>
          <p:cNvSpPr txBox="1"/>
          <p:nvPr/>
        </p:nvSpPr>
        <p:spPr>
          <a:xfrm>
            <a:off x="4737100" y="26416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B  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处理过程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3B06E5-836D-45D4-7267-4118D91EEF33}"/>
              </a:ext>
            </a:extLst>
          </p:cNvPr>
          <p:cNvSpPr txBox="1"/>
          <p:nvPr/>
        </p:nvSpPr>
        <p:spPr>
          <a:xfrm>
            <a:off x="4737100" y="3073400"/>
            <a:ext cx="2743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识别字段口径 → 聚合门店日数据 → 设计看板结构 → 生成交互页面 → 按反馈持续迭代。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A62B7AD-FCBA-DBFA-580A-61BFE0BBAAFB}"/>
              </a:ext>
            </a:extLst>
          </p:cNvPr>
          <p:cNvSpPr/>
          <p:nvPr/>
        </p:nvSpPr>
        <p:spPr>
          <a:xfrm>
            <a:off x="8128000" y="2413000"/>
            <a:ext cx="3175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97E1BF-316B-4638-A9AC-5CE1F2BC309B}"/>
              </a:ext>
            </a:extLst>
          </p:cNvPr>
          <p:cNvSpPr/>
          <p:nvPr/>
        </p:nvSpPr>
        <p:spPr>
          <a:xfrm>
            <a:off x="8128000" y="2413000"/>
            <a:ext cx="76200" cy="2286000"/>
          </a:xfrm>
          <a:prstGeom prst="rect">
            <a:avLst/>
          </a:prstGeom>
          <a:solidFill>
            <a:srgbClr val="46A46C"/>
          </a:solidFill>
          <a:ln>
            <a:solidFill>
              <a:srgbClr val="46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DA9910-2B2B-1B03-F22F-8DD543E7AFBE}"/>
              </a:ext>
            </a:extLst>
          </p:cNvPr>
          <p:cNvSpPr txBox="1"/>
          <p:nvPr/>
        </p:nvSpPr>
        <p:spPr>
          <a:xfrm>
            <a:off x="8356600" y="26416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C 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最终看板成品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394F87-C8A4-0049-DBCC-70523A7B911E}"/>
              </a:ext>
            </a:extLst>
          </p:cNvPr>
          <p:cNvSpPr txBox="1"/>
          <p:nvPr/>
        </p:nvSpPr>
        <p:spPr>
          <a:xfrm>
            <a:off x="8356600" y="3073400"/>
            <a:ext cx="2743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DAPHNE.LAB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门店运营看板：自动数据源、多门店汇总、经营预警、商品排行与库存钻取。</a:t>
            </a:r>
          </a:p>
        </p:txBody>
      </p:sp>
    </p:spTree>
    <p:extLst>
      <p:ext uri="{BB962C8B-B14F-4D97-AF65-F5344CB8AC3E}">
        <p14:creationId xmlns:p14="http://schemas.microsoft.com/office/powerpoint/2010/main" val="1569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4CBE23-6129-55B7-063C-0F155FEDA765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03-1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呈现成果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E565F2-2107-D1C7-0BB3-F43C1862D723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最终成果是一个可展示的销售运营看板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CC7CBA-88DF-5A20-6F20-46D4A786C3C6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覆盖 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家直营门店、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1516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个店铺日：核心指标、门店对比、库存结构和商品排行一页看清。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3A53B2A-6190-1085-5906-BE9C7FDE6B48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0BA1F7E-104A-00CB-9111-7136E5E0C3F3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4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2E1E40-09F7-0536-212F-028CCB5B5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47" y="2249077"/>
            <a:ext cx="4192702" cy="2359845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DF5A2B31-48A5-A286-059C-EFB44652FCBF}"/>
              </a:ext>
            </a:extLst>
          </p:cNvPr>
          <p:cNvSpPr/>
          <p:nvPr/>
        </p:nvSpPr>
        <p:spPr>
          <a:xfrm>
            <a:off x="7313500" y="2095500"/>
            <a:ext cx="30480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459E8A-C471-82BE-C9AA-577FB1E95D0B}"/>
              </a:ext>
            </a:extLst>
          </p:cNvPr>
          <p:cNvSpPr/>
          <p:nvPr/>
        </p:nvSpPr>
        <p:spPr>
          <a:xfrm>
            <a:off x="7313500" y="2095500"/>
            <a:ext cx="76200" cy="2921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5A13BBC-21CE-35B8-FC57-3A64B61A7C1D}"/>
              </a:ext>
            </a:extLst>
          </p:cNvPr>
          <p:cNvSpPr txBox="1"/>
          <p:nvPr/>
        </p:nvSpPr>
        <p:spPr>
          <a:xfrm>
            <a:off x="7542100" y="2324100"/>
            <a:ext cx="2616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案例核心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1091E1-4630-B59B-A386-2ED9A6885CE9}"/>
              </a:ext>
            </a:extLst>
          </p:cNvPr>
          <p:cNvSpPr txBox="1"/>
          <p:nvPr/>
        </p:nvSpPr>
        <p:spPr>
          <a:xfrm>
            <a:off x="7542100" y="2755900"/>
            <a:ext cx="26162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把数据、判断与展示方式整合成一个真正能用来沟通的业务工具。</a:t>
            </a:r>
          </a:p>
          <a:p>
            <a:endParaRPr lang="zh-CN" altLang="en-US" sz="1200">
              <a:solidFill>
                <a:srgbClr val="646460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数据区间：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2025-01-01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至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2026-06-21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全期净销售额：约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819.83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万</a:t>
            </a:r>
          </a:p>
        </p:txBody>
      </p:sp>
    </p:spTree>
    <p:extLst>
      <p:ext uri="{BB962C8B-B14F-4D97-AF65-F5344CB8AC3E}">
        <p14:creationId xmlns:p14="http://schemas.microsoft.com/office/powerpoint/2010/main" val="2408616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86DB14A-A214-C5FB-8232-562179426CE7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流程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7FE967-75BB-7684-DB40-701E725442F6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介入的工作流程：不是一步到位，而是分工协作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070A17-33DF-8D91-CC5A-A7AB94B22B9C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我负责业务判断与方向，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负责把信息快速转成结构、内容与可视化原型。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CC95B62-0E12-2514-0A6D-327685EAE03E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35E61AC-CB6D-9476-75D9-FFF6171E4402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5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9DB1F67-FDDB-BFAA-331B-98318555B185}"/>
              </a:ext>
            </a:extLst>
          </p:cNvPr>
          <p:cNvSpPr/>
          <p:nvPr/>
        </p:nvSpPr>
        <p:spPr>
          <a:xfrm>
            <a:off x="889000" y="2540000"/>
            <a:ext cx="18415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FBF249-8D68-5780-9911-F178C19FC3F8}"/>
              </a:ext>
            </a:extLst>
          </p:cNvPr>
          <p:cNvSpPr txBox="1"/>
          <p:nvPr/>
        </p:nvSpPr>
        <p:spPr>
          <a:xfrm>
            <a:off x="1092200" y="2768600"/>
            <a:ext cx="4064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F0AA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200" b="1">
              <a:solidFill>
                <a:srgbClr val="FF0AA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14559E-AC7C-08DF-4BEA-3AFE5E295245}"/>
              </a:ext>
            </a:extLst>
          </p:cNvPr>
          <p:cNvSpPr txBox="1"/>
          <p:nvPr/>
        </p:nvSpPr>
        <p:spPr>
          <a:xfrm>
            <a:off x="1092200" y="3302000"/>
            <a:ext cx="139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明确目标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4123A0-BB6E-997E-92FE-27FB5034ADDF}"/>
              </a:ext>
            </a:extLst>
          </p:cNvPr>
          <p:cNvSpPr txBox="1"/>
          <p:nvPr/>
        </p:nvSpPr>
        <p:spPr>
          <a:xfrm>
            <a:off x="1092200" y="3784600"/>
            <a:ext cx="1397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确定汇报对象、使用场景与输出形式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4A2E83-1593-7C42-ED0D-11E5F4B7CECB}"/>
              </a:ext>
            </a:extLst>
          </p:cNvPr>
          <p:cNvSpPr/>
          <p:nvPr/>
        </p:nvSpPr>
        <p:spPr>
          <a:xfrm>
            <a:off x="3048000" y="2540000"/>
            <a:ext cx="18415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7E8430-D97C-6BE2-D7D7-225C6DC9EB1D}"/>
              </a:ext>
            </a:extLst>
          </p:cNvPr>
          <p:cNvSpPr txBox="1"/>
          <p:nvPr/>
        </p:nvSpPr>
        <p:spPr>
          <a:xfrm>
            <a:off x="3251200" y="2768600"/>
            <a:ext cx="4064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F0AA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200" b="1">
              <a:solidFill>
                <a:srgbClr val="FF0AA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0A584E-BC55-B19F-4978-7396C1B0EEB1}"/>
              </a:ext>
            </a:extLst>
          </p:cNvPr>
          <p:cNvSpPr txBox="1"/>
          <p:nvPr/>
        </p:nvSpPr>
        <p:spPr>
          <a:xfrm>
            <a:off x="3251200" y="3302000"/>
            <a:ext cx="139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输入素材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8FD05C-39F6-E6BC-D222-38CD7EBF8814}"/>
              </a:ext>
            </a:extLst>
          </p:cNvPr>
          <p:cNvSpPr txBox="1"/>
          <p:nvPr/>
        </p:nvSpPr>
        <p:spPr>
          <a:xfrm>
            <a:off x="3251200" y="3784600"/>
            <a:ext cx="1397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提供销售、库存 </a:t>
            </a:r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与最终看板要求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1FABB67-9C8C-C3BF-2561-DF9A477618ED}"/>
              </a:ext>
            </a:extLst>
          </p:cNvPr>
          <p:cNvSpPr/>
          <p:nvPr/>
        </p:nvSpPr>
        <p:spPr>
          <a:xfrm>
            <a:off x="5207000" y="2540000"/>
            <a:ext cx="18415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975ED3A-E299-D212-AA22-55F03CFAA4A0}"/>
              </a:ext>
            </a:extLst>
          </p:cNvPr>
          <p:cNvSpPr txBox="1"/>
          <p:nvPr/>
        </p:nvSpPr>
        <p:spPr>
          <a:xfrm>
            <a:off x="5410200" y="2768600"/>
            <a:ext cx="4064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F0AAE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200" b="1">
              <a:solidFill>
                <a:srgbClr val="FF0AA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4A36D02-7D76-76F2-0818-DB38A039EBDB}"/>
              </a:ext>
            </a:extLst>
          </p:cNvPr>
          <p:cNvSpPr txBox="1"/>
          <p:nvPr/>
        </p:nvSpPr>
        <p:spPr>
          <a:xfrm>
            <a:off x="5410200" y="3302000"/>
            <a:ext cx="139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生成原型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ACD6EA-2FBD-04FF-86E1-6F40F7D7EF63}"/>
              </a:ext>
            </a:extLst>
          </p:cNvPr>
          <p:cNvSpPr txBox="1"/>
          <p:nvPr/>
        </p:nvSpPr>
        <p:spPr>
          <a:xfrm>
            <a:off x="5410200" y="3784600"/>
            <a:ext cx="1397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先搭结构，再形成可浏览页面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080271A-1D1F-ABFE-B583-ABE0A532A6D9}"/>
              </a:ext>
            </a:extLst>
          </p:cNvPr>
          <p:cNvSpPr/>
          <p:nvPr/>
        </p:nvSpPr>
        <p:spPr>
          <a:xfrm>
            <a:off x="7366000" y="2540000"/>
            <a:ext cx="18415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37E8F15-AA14-2D1E-D669-E8D4F209EF4D}"/>
              </a:ext>
            </a:extLst>
          </p:cNvPr>
          <p:cNvSpPr txBox="1"/>
          <p:nvPr/>
        </p:nvSpPr>
        <p:spPr>
          <a:xfrm>
            <a:off x="7569200" y="2768600"/>
            <a:ext cx="4064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F0AAE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200" b="1">
              <a:solidFill>
                <a:srgbClr val="FF0AA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61F1393-0712-9B4A-B2C0-6EAE7115CB87}"/>
              </a:ext>
            </a:extLst>
          </p:cNvPr>
          <p:cNvSpPr txBox="1"/>
          <p:nvPr/>
        </p:nvSpPr>
        <p:spPr>
          <a:xfrm>
            <a:off x="7569200" y="3302000"/>
            <a:ext cx="139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反馈迭代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9346F85-E0D7-98F3-E1D8-4BB465C69CCC}"/>
              </a:ext>
            </a:extLst>
          </p:cNvPr>
          <p:cNvSpPr txBox="1"/>
          <p:nvPr/>
        </p:nvSpPr>
        <p:spPr>
          <a:xfrm>
            <a:off x="7569200" y="3784600"/>
            <a:ext cx="1397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围绕指标、视觉、交互逐步修正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800F5EA-A914-DF8C-DE08-CC3B1793E254}"/>
              </a:ext>
            </a:extLst>
          </p:cNvPr>
          <p:cNvSpPr/>
          <p:nvPr/>
        </p:nvSpPr>
        <p:spPr>
          <a:xfrm>
            <a:off x="9525000" y="2540000"/>
            <a:ext cx="18415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F5A1D5B-8A73-22AA-2884-DE4FE77E9314}"/>
              </a:ext>
            </a:extLst>
          </p:cNvPr>
          <p:cNvSpPr txBox="1"/>
          <p:nvPr/>
        </p:nvSpPr>
        <p:spPr>
          <a:xfrm>
            <a:off x="9728200" y="2768600"/>
            <a:ext cx="4064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F0AAE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200" b="1">
              <a:solidFill>
                <a:srgbClr val="FF0AA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B1022C7-68F4-AB4F-59DC-4BEDB461F552}"/>
              </a:ext>
            </a:extLst>
          </p:cNvPr>
          <p:cNvSpPr txBox="1"/>
          <p:nvPr/>
        </p:nvSpPr>
        <p:spPr>
          <a:xfrm>
            <a:off x="9728200" y="3302000"/>
            <a:ext cx="139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沉淀复用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98AFE28-B650-16AC-D6C5-497E4912B985}"/>
              </a:ext>
            </a:extLst>
          </p:cNvPr>
          <p:cNvSpPr txBox="1"/>
          <p:nvPr/>
        </p:nvSpPr>
        <p:spPr>
          <a:xfrm>
            <a:off x="9728200" y="3784600"/>
            <a:ext cx="1397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固化自动更新与可复制模板</a:t>
            </a:r>
          </a:p>
        </p:txBody>
      </p:sp>
    </p:spTree>
    <p:extLst>
      <p:ext uri="{BB962C8B-B14F-4D97-AF65-F5344CB8AC3E}">
        <p14:creationId xmlns:p14="http://schemas.microsoft.com/office/powerpoint/2010/main" val="510427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171180-07ED-9797-07EE-11657B8C4855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03-1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呈现过程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ACA649-3C33-685F-1A77-FC5CC97A8E5C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到销售运营看板：完整制作路径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36DDAF-66B8-BE11-1642-1E5DC686D49D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这个案例不是“一键生成”，而是把业务分析流程拆开，让 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参与每个可提效的环节。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48F3956-BCB8-C7DD-1CCD-6050A0DD576E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588952C-9B87-D403-580B-C95235B613D9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6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ACF02E1-A546-A6A0-3141-FEF9049D0D4A}"/>
              </a:ext>
            </a:extLst>
          </p:cNvPr>
          <p:cNvSpPr/>
          <p:nvPr/>
        </p:nvSpPr>
        <p:spPr>
          <a:xfrm>
            <a:off x="889000" y="2286000"/>
            <a:ext cx="2413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3A4BD1-78ED-E84C-26D0-ACDE9104F426}"/>
              </a:ext>
            </a:extLst>
          </p:cNvPr>
          <p:cNvSpPr/>
          <p:nvPr/>
        </p:nvSpPr>
        <p:spPr>
          <a:xfrm>
            <a:off x="889000" y="2286000"/>
            <a:ext cx="76200" cy="1778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4C5114-B134-9A5B-F6DD-FDF1F481B228}"/>
              </a:ext>
            </a:extLst>
          </p:cNvPr>
          <p:cNvSpPr txBox="1"/>
          <p:nvPr/>
        </p:nvSpPr>
        <p:spPr>
          <a:xfrm>
            <a:off x="1117600" y="2514600"/>
            <a:ext cx="198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素材准备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F46FD0-5DC7-83E6-80F7-91E308BE907A}"/>
              </a:ext>
            </a:extLst>
          </p:cNvPr>
          <p:cNvSpPr txBox="1"/>
          <p:nvPr/>
        </p:nvSpPr>
        <p:spPr>
          <a:xfrm>
            <a:off x="1117600" y="2946400"/>
            <a:ext cx="198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整理销售字段、库存字段、门店别名、日期范围与目标口径。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8BFB659-B1A6-D977-4C8B-0355FC586A52}"/>
              </a:ext>
            </a:extLst>
          </p:cNvPr>
          <p:cNvSpPr/>
          <p:nvPr/>
        </p:nvSpPr>
        <p:spPr>
          <a:xfrm>
            <a:off x="3619500" y="2286000"/>
            <a:ext cx="2413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4C99BC-C5C0-FB74-CB61-C99E38C35B43}"/>
              </a:ext>
            </a:extLst>
          </p:cNvPr>
          <p:cNvSpPr/>
          <p:nvPr/>
        </p:nvSpPr>
        <p:spPr>
          <a:xfrm>
            <a:off x="3619500" y="2286000"/>
            <a:ext cx="76200" cy="1778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DE3A1B-AB60-7445-4C65-5019BCBA5A9C}"/>
              </a:ext>
            </a:extLst>
          </p:cNvPr>
          <p:cNvSpPr txBox="1"/>
          <p:nvPr/>
        </p:nvSpPr>
        <p:spPr>
          <a:xfrm>
            <a:off x="3848100" y="2514600"/>
            <a:ext cx="198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分析结构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3D7C10-F0AE-2854-3B35-B483DD734FF7}"/>
              </a:ext>
            </a:extLst>
          </p:cNvPr>
          <p:cNvSpPr txBox="1"/>
          <p:nvPr/>
        </p:nvSpPr>
        <p:spPr>
          <a:xfrm>
            <a:off x="3848100" y="2946400"/>
            <a:ext cx="198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先确定“看什么”：销售、客流、毛利、达成、库存、商品。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2966617-B115-F04E-42E1-58E83C933BCF}"/>
              </a:ext>
            </a:extLst>
          </p:cNvPr>
          <p:cNvSpPr/>
          <p:nvPr/>
        </p:nvSpPr>
        <p:spPr>
          <a:xfrm>
            <a:off x="6350000" y="2286000"/>
            <a:ext cx="2413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373177-2840-2EF3-89E4-025E687B3F1D}"/>
              </a:ext>
            </a:extLst>
          </p:cNvPr>
          <p:cNvSpPr/>
          <p:nvPr/>
        </p:nvSpPr>
        <p:spPr>
          <a:xfrm>
            <a:off x="6350000" y="2286000"/>
            <a:ext cx="76200" cy="1778000"/>
          </a:xfrm>
          <a:prstGeom prst="rect">
            <a:avLst/>
          </a:prstGeom>
          <a:solidFill>
            <a:srgbClr val="46A46C"/>
          </a:solidFill>
          <a:ln>
            <a:solidFill>
              <a:srgbClr val="46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C1549C-C6DD-AF9B-399A-CA74F4B04906}"/>
              </a:ext>
            </a:extLst>
          </p:cNvPr>
          <p:cNvSpPr txBox="1"/>
          <p:nvPr/>
        </p:nvSpPr>
        <p:spPr>
          <a:xfrm>
            <a:off x="6578600" y="2514600"/>
            <a:ext cx="198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页面生成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21527E8-9BFD-00FF-671C-84316E552B8A}"/>
              </a:ext>
            </a:extLst>
          </p:cNvPr>
          <p:cNvSpPr txBox="1"/>
          <p:nvPr/>
        </p:nvSpPr>
        <p:spPr>
          <a:xfrm>
            <a:off x="6578600" y="2946400"/>
            <a:ext cx="198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HTML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看板承载多门店切换、周期筛选、图表与明细表。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D94F6F1-6D35-D9FB-E483-C9AAB0D3A11D}"/>
              </a:ext>
            </a:extLst>
          </p:cNvPr>
          <p:cNvSpPr/>
          <p:nvPr/>
        </p:nvSpPr>
        <p:spPr>
          <a:xfrm>
            <a:off x="9080500" y="2286000"/>
            <a:ext cx="2413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AAECAD-3124-87B8-A2F7-A353E0E12D7C}"/>
              </a:ext>
            </a:extLst>
          </p:cNvPr>
          <p:cNvSpPr/>
          <p:nvPr/>
        </p:nvSpPr>
        <p:spPr>
          <a:xfrm>
            <a:off x="9080500" y="2286000"/>
            <a:ext cx="76200" cy="1778000"/>
          </a:xfrm>
          <a:prstGeom prst="rect">
            <a:avLst/>
          </a:prstGeom>
          <a:solidFill>
            <a:srgbClr val="F6992E"/>
          </a:solidFill>
          <a:ln>
            <a:solidFill>
              <a:srgbClr val="F69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9EA59D-FBB1-36E7-28A5-081ECB308421}"/>
              </a:ext>
            </a:extLst>
          </p:cNvPr>
          <p:cNvSpPr txBox="1"/>
          <p:nvPr/>
        </p:nvSpPr>
        <p:spPr>
          <a:xfrm>
            <a:off x="9309100" y="2514600"/>
            <a:ext cx="198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迭代优化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E857DD-FC0E-DCE7-EBBB-9B81E2A632DC}"/>
              </a:ext>
            </a:extLst>
          </p:cNvPr>
          <p:cNvSpPr txBox="1"/>
          <p:nvPr/>
        </p:nvSpPr>
        <p:spPr>
          <a:xfrm>
            <a:off x="9309100" y="2946400"/>
            <a:ext cx="1981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逐步补齐经营预警、售罄率、生命周期、商品图片与钻取。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18533560-BA55-2771-6681-948AEB39B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956" y="5085530"/>
            <a:ext cx="770088" cy="43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2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14A8A4-C396-3E3F-1118-7745D36A3C4E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03-2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需求输入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16C856-7FDB-90BC-D2DD-1ACE390A2838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第一步：把“我要什么”讲清楚，</a:t>
            </a:r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输出才可用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F95B77-6C41-8782-51EC-78382BC220E2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不是直接让 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随便做，而是先把对象、目标、内容、风格与边界讲清楚。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2FEA859-A1DE-A060-9ABB-0CFF533A91EC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FAF1DA0-7FCA-987B-5C7E-68A4B5D707B9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7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D7B5552-82E9-9BA3-5D0F-348058CDF562}"/>
              </a:ext>
            </a:extLst>
          </p:cNvPr>
          <p:cNvSpPr/>
          <p:nvPr/>
        </p:nvSpPr>
        <p:spPr>
          <a:xfrm>
            <a:off x="1016000" y="2413000"/>
            <a:ext cx="2286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495131-8AB3-8581-073E-979A20E40A03}"/>
              </a:ext>
            </a:extLst>
          </p:cNvPr>
          <p:cNvSpPr/>
          <p:nvPr/>
        </p:nvSpPr>
        <p:spPr>
          <a:xfrm>
            <a:off x="1016000" y="2413000"/>
            <a:ext cx="76200" cy="1524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44609E-3818-D8BF-D25F-D70467063052}"/>
              </a:ext>
            </a:extLst>
          </p:cNvPr>
          <p:cNvSpPr txBox="1"/>
          <p:nvPr/>
        </p:nvSpPr>
        <p:spPr>
          <a:xfrm>
            <a:off x="1244600" y="2641600"/>
            <a:ext cx="1854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汇报对象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2FE9AE-5E93-F9BD-1D5E-4535B0D3A475}"/>
              </a:ext>
            </a:extLst>
          </p:cNvPr>
          <p:cNvSpPr txBox="1"/>
          <p:nvPr/>
        </p:nvSpPr>
        <p:spPr>
          <a:xfrm>
            <a:off x="1244600" y="30734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老板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经营管理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门店运营团队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E1E75E7-4A78-FB17-6A7B-DBE2D5276D95}"/>
              </a:ext>
            </a:extLst>
          </p:cNvPr>
          <p:cNvSpPr/>
          <p:nvPr/>
        </p:nvSpPr>
        <p:spPr>
          <a:xfrm>
            <a:off x="3619500" y="2413000"/>
            <a:ext cx="2286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04411C-4B6E-3DDC-EC2D-689F137D2492}"/>
              </a:ext>
            </a:extLst>
          </p:cNvPr>
          <p:cNvSpPr/>
          <p:nvPr/>
        </p:nvSpPr>
        <p:spPr>
          <a:xfrm>
            <a:off x="3619500" y="2413000"/>
            <a:ext cx="76200" cy="1524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1B1C50-D6F2-8E05-E802-89000AD3A3CE}"/>
              </a:ext>
            </a:extLst>
          </p:cNvPr>
          <p:cNvSpPr txBox="1"/>
          <p:nvPr/>
        </p:nvSpPr>
        <p:spPr>
          <a:xfrm>
            <a:off x="3848100" y="2641600"/>
            <a:ext cx="1854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输出目标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20A31F-8A49-720E-A0F5-88FD2FF629B3}"/>
              </a:ext>
            </a:extLst>
          </p:cNvPr>
          <p:cNvSpPr txBox="1"/>
          <p:nvPr/>
        </p:nvSpPr>
        <p:spPr>
          <a:xfrm>
            <a:off x="3848100" y="30734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看板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/ PPT /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结论型复盘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F58712A-9AE8-EF4C-A12A-111C6B6E97AC}"/>
              </a:ext>
            </a:extLst>
          </p:cNvPr>
          <p:cNvSpPr/>
          <p:nvPr/>
        </p:nvSpPr>
        <p:spPr>
          <a:xfrm>
            <a:off x="6223000" y="2413000"/>
            <a:ext cx="2286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76F972-F319-D12A-F63A-28594F0EEC00}"/>
              </a:ext>
            </a:extLst>
          </p:cNvPr>
          <p:cNvSpPr/>
          <p:nvPr/>
        </p:nvSpPr>
        <p:spPr>
          <a:xfrm>
            <a:off x="6223000" y="2413000"/>
            <a:ext cx="76200" cy="1524000"/>
          </a:xfrm>
          <a:prstGeom prst="rect">
            <a:avLst/>
          </a:prstGeom>
          <a:solidFill>
            <a:srgbClr val="46A46C"/>
          </a:solidFill>
          <a:ln>
            <a:solidFill>
              <a:srgbClr val="46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1FEDF2-427D-8E71-8B2F-E246D70D08EB}"/>
              </a:ext>
            </a:extLst>
          </p:cNvPr>
          <p:cNvSpPr txBox="1"/>
          <p:nvPr/>
        </p:nvSpPr>
        <p:spPr>
          <a:xfrm>
            <a:off x="6451600" y="2641600"/>
            <a:ext cx="1854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素材范围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A8FA5A-98B2-2FFD-DFFE-0C790E2C0029}"/>
              </a:ext>
            </a:extLst>
          </p:cNvPr>
          <p:cNvSpPr txBox="1"/>
          <p:nvPr/>
        </p:nvSpPr>
        <p:spPr>
          <a:xfrm>
            <a:off x="6451600" y="30734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销售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Excel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、库存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Excel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VI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风格、商品图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8CE2B44-A409-EA42-40CA-4366D8E80133}"/>
              </a:ext>
            </a:extLst>
          </p:cNvPr>
          <p:cNvSpPr/>
          <p:nvPr/>
        </p:nvSpPr>
        <p:spPr>
          <a:xfrm>
            <a:off x="8826500" y="2413000"/>
            <a:ext cx="2286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5ED2C2-2757-D477-115A-2F88652B782D}"/>
              </a:ext>
            </a:extLst>
          </p:cNvPr>
          <p:cNvSpPr/>
          <p:nvPr/>
        </p:nvSpPr>
        <p:spPr>
          <a:xfrm>
            <a:off x="8826500" y="2413000"/>
            <a:ext cx="76200" cy="1524000"/>
          </a:xfrm>
          <a:prstGeom prst="rect">
            <a:avLst/>
          </a:prstGeom>
          <a:solidFill>
            <a:srgbClr val="F6992E"/>
          </a:solidFill>
          <a:ln>
            <a:solidFill>
              <a:srgbClr val="F69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696DFD-C626-8029-1F9E-65BCC4050801}"/>
              </a:ext>
            </a:extLst>
          </p:cNvPr>
          <p:cNvSpPr txBox="1"/>
          <p:nvPr/>
        </p:nvSpPr>
        <p:spPr>
          <a:xfrm>
            <a:off x="9055100" y="2641600"/>
            <a:ext cx="1854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边界要求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AC0A90C-3405-2216-A9AC-114C236356DE}"/>
              </a:ext>
            </a:extLst>
          </p:cNvPr>
          <p:cNvSpPr txBox="1"/>
          <p:nvPr/>
        </p:nvSpPr>
        <p:spPr>
          <a:xfrm>
            <a:off x="9055100" y="30734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数据口径可解释、页面可分享、后续可复用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41AF86-58FC-4B49-5D8A-518E21B2F584}"/>
              </a:ext>
            </a:extLst>
          </p:cNvPr>
          <p:cNvSpPr txBox="1"/>
          <p:nvPr/>
        </p:nvSpPr>
        <p:spPr>
          <a:xfrm>
            <a:off x="1397000" y="4635500"/>
            <a:ext cx="9398000" cy="56425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500">
                <a:solidFill>
                  <a:srgbClr val="1E1E1E"/>
                </a:solidFill>
                <a:latin typeface="Microsoft YaHei" panose="020B0503020204020204" pitchFamily="34" charset="-122"/>
              </a:rPr>
              <a:t>越清楚地说明业务对象、指标口径和使用场景，</a:t>
            </a:r>
            <a:r>
              <a:rPr lang="en-US" altLang="zh-CN" sz="1500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1E1E1E"/>
                </a:solidFill>
                <a:latin typeface="Microsoft YaHei" panose="020B0503020204020204" pitchFamily="34" charset="-122"/>
              </a:rPr>
              <a:t>越容易产出可直接迭代的初版。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500">
                <a:solidFill>
                  <a:srgbClr val="1E1E1E"/>
                </a:solidFill>
                <a:latin typeface="Microsoft YaHei" panose="020B0503020204020204" pitchFamily="34" charset="-122"/>
              </a:rPr>
              <a:t>这一步的关键不是技术，而是把“经营问题”翻译成“看板需求”。</a:t>
            </a:r>
          </a:p>
        </p:txBody>
      </p:sp>
    </p:spTree>
    <p:extLst>
      <p:ext uri="{BB962C8B-B14F-4D97-AF65-F5344CB8AC3E}">
        <p14:creationId xmlns:p14="http://schemas.microsoft.com/office/powerpoint/2010/main" val="2827324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99A6D4B-0E02-1CF8-4914-8FD8350C71F0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03-3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制作迭代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1848E0-CD1C-8F6B-1AFA-A8D3F4507579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第二步：</a:t>
            </a:r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生成初版后，我再逐轮修正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FE64FB-3DEA-FDE9-62F1-91E02FE88B29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先给出结构与原型，我根据业务重点不断追问、补充、删改，直到变成可展示结果。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CFFA0D8-94B5-B8DA-536A-255ED84C6932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6F72292-A455-B5EB-45E0-396CEA80F538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8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E20B581-05D1-DE58-162B-FD395AD4A071}"/>
              </a:ext>
            </a:extLst>
          </p:cNvPr>
          <p:cNvSpPr/>
          <p:nvPr/>
        </p:nvSpPr>
        <p:spPr>
          <a:xfrm>
            <a:off x="1079500" y="2387600"/>
            <a:ext cx="3175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65A8CA-F760-5033-1F62-5C6A778D0667}"/>
              </a:ext>
            </a:extLst>
          </p:cNvPr>
          <p:cNvSpPr/>
          <p:nvPr/>
        </p:nvSpPr>
        <p:spPr>
          <a:xfrm>
            <a:off x="1079500" y="2387600"/>
            <a:ext cx="76200" cy="2032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9C694F-4418-8D76-4359-F30E2712601F}"/>
              </a:ext>
            </a:extLst>
          </p:cNvPr>
          <p:cNvSpPr txBox="1"/>
          <p:nvPr/>
        </p:nvSpPr>
        <p:spPr>
          <a:xfrm>
            <a:off x="1308100" y="26162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先看结构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E8F547-0B6E-8737-F5C8-1519BF5F150E}"/>
              </a:ext>
            </a:extLst>
          </p:cNvPr>
          <p:cNvSpPr txBox="1"/>
          <p:nvPr/>
        </p:nvSpPr>
        <p:spPr>
          <a:xfrm>
            <a:off x="1308100" y="30480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是否符合汇报逻辑：总览 → 门店 → 品类 → 商品 → 风险。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EE651EB-1ED2-8C59-1CC8-25452D0DE956}"/>
              </a:ext>
            </a:extLst>
          </p:cNvPr>
          <p:cNvSpPr/>
          <p:nvPr/>
        </p:nvSpPr>
        <p:spPr>
          <a:xfrm>
            <a:off x="4508500" y="2387600"/>
            <a:ext cx="3175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D7CBD2-5D0C-CBD4-2058-5F239BC8D7EE}"/>
              </a:ext>
            </a:extLst>
          </p:cNvPr>
          <p:cNvSpPr/>
          <p:nvPr/>
        </p:nvSpPr>
        <p:spPr>
          <a:xfrm>
            <a:off x="4508500" y="2387600"/>
            <a:ext cx="76200" cy="2032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CDD9BC-E50B-AF39-33D7-874B3E738958}"/>
              </a:ext>
            </a:extLst>
          </p:cNvPr>
          <p:cNvSpPr txBox="1"/>
          <p:nvPr/>
        </p:nvSpPr>
        <p:spPr>
          <a:xfrm>
            <a:off x="4737100" y="26162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再看内容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21F13FD-94A9-1ACF-F1D6-7270FF3CC840}"/>
              </a:ext>
            </a:extLst>
          </p:cNvPr>
          <p:cNvSpPr txBox="1"/>
          <p:nvPr/>
        </p:nvSpPr>
        <p:spPr>
          <a:xfrm>
            <a:off x="4737100" y="30480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指标是否准确：净销售额、客流、成交、毛利、目标、库存。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E5D0053-EA66-A6C5-B102-F3C639DFE239}"/>
              </a:ext>
            </a:extLst>
          </p:cNvPr>
          <p:cNvSpPr/>
          <p:nvPr/>
        </p:nvSpPr>
        <p:spPr>
          <a:xfrm>
            <a:off x="7937500" y="2387600"/>
            <a:ext cx="3175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68A33D-C9EC-F962-94E9-036F2510A572}"/>
              </a:ext>
            </a:extLst>
          </p:cNvPr>
          <p:cNvSpPr/>
          <p:nvPr/>
        </p:nvSpPr>
        <p:spPr>
          <a:xfrm>
            <a:off x="7937500" y="2387600"/>
            <a:ext cx="76200" cy="2032000"/>
          </a:xfrm>
          <a:prstGeom prst="rect">
            <a:avLst/>
          </a:prstGeom>
          <a:solidFill>
            <a:srgbClr val="46A46C"/>
          </a:solidFill>
          <a:ln>
            <a:solidFill>
              <a:srgbClr val="46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DCE736E-8ADB-ED50-19A4-CAB970C74040}"/>
              </a:ext>
            </a:extLst>
          </p:cNvPr>
          <p:cNvSpPr txBox="1"/>
          <p:nvPr/>
        </p:nvSpPr>
        <p:spPr>
          <a:xfrm>
            <a:off x="8166100" y="26162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最后看体验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44F0D3-3FC2-1E68-EF15-98C6AC2D6B41}"/>
              </a:ext>
            </a:extLst>
          </p:cNvPr>
          <p:cNvSpPr txBox="1"/>
          <p:nvPr/>
        </p:nvSpPr>
        <p:spPr>
          <a:xfrm>
            <a:off x="8166100" y="30480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页面是否适合汇报：重点突出、切换清楚、异常先展示。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FBE7541-4348-8874-9370-A2745BAA493E}"/>
              </a:ext>
            </a:extLst>
          </p:cNvPr>
          <p:cNvSpPr txBox="1"/>
          <p:nvPr/>
        </p:nvSpPr>
        <p:spPr>
          <a:xfrm>
            <a:off x="711200" y="5192068"/>
            <a:ext cx="939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rgbClr val="1E1E1E"/>
                </a:solidFill>
                <a:latin typeface="Microsoft YaHei" panose="020B0503020204020204" pitchFamily="34" charset="-122"/>
              </a:rPr>
              <a:t>我的文件夹里的多个 “</a:t>
            </a:r>
            <a:r>
              <a:rPr lang="en-US" altLang="zh-CN" sz="1500" b="1" dirty="0">
                <a:solidFill>
                  <a:srgbClr val="1E1E1E"/>
                </a:solidFill>
                <a:latin typeface="Microsoft YaHei" panose="020B0503020204020204" pitchFamily="34" charset="-122"/>
              </a:rPr>
              <a:t>before” </a:t>
            </a:r>
            <a:r>
              <a:rPr lang="zh-CN" altLang="en-US" sz="1500" b="1" dirty="0">
                <a:solidFill>
                  <a:srgbClr val="1E1E1E"/>
                </a:solidFill>
                <a:latin typeface="Microsoft YaHei" panose="020B0503020204020204" pitchFamily="34" charset="-122"/>
              </a:rPr>
              <a:t>版本，记录了从排行、图片、库存、售罄、生命周期到预警中心的持续迭代。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F1A6C17-AAA7-1541-6279-CA0578C1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200" y="4590386"/>
            <a:ext cx="1783693" cy="169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42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D5F1A9-2B85-83FF-16AD-B279E7C0030C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03-4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结果呈现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446089-1F1B-5C3D-4757-7687AD16BB4F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最终不是一张“更漂亮的表”，而是一个业务看板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FF91A0-EA1A-E9C3-0E59-40FF43AB2B78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66AA9C4-CE1B-73B5-C2B1-C0A6B4C0E283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9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468AFBC-3764-81F8-B247-1E096CFD4C6C}"/>
              </a:ext>
            </a:extLst>
          </p:cNvPr>
          <p:cNvSpPr/>
          <p:nvPr/>
        </p:nvSpPr>
        <p:spPr>
          <a:xfrm>
            <a:off x="1041400" y="2387600"/>
            <a:ext cx="393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AC9B9B-2009-4645-7933-68E8088259AE}"/>
              </a:ext>
            </a:extLst>
          </p:cNvPr>
          <p:cNvSpPr/>
          <p:nvPr/>
        </p:nvSpPr>
        <p:spPr>
          <a:xfrm>
            <a:off x="1041400" y="2387600"/>
            <a:ext cx="76200" cy="2032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79C399-8822-A80F-773F-24969B52D75B}"/>
              </a:ext>
            </a:extLst>
          </p:cNvPr>
          <p:cNvSpPr txBox="1"/>
          <p:nvPr/>
        </p:nvSpPr>
        <p:spPr>
          <a:xfrm>
            <a:off x="1270000" y="2616200"/>
            <a:ext cx="3505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表格 </a:t>
            </a:r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—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数据存储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DA9A75-C8F7-272B-33EA-B4C52FFE82A1}"/>
              </a:ext>
            </a:extLst>
          </p:cNvPr>
          <p:cNvSpPr txBox="1"/>
          <p:nvPr/>
        </p:nvSpPr>
        <p:spPr>
          <a:xfrm>
            <a:off x="1270000" y="30480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字段清楚，但阅读成本高；需要人工筛选、透视、截图，再解释给别人听。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3834E9-75A7-4E6C-B3B1-05DDE594E6C9}"/>
              </a:ext>
            </a:extLst>
          </p:cNvPr>
          <p:cNvSpPr txBox="1"/>
          <p:nvPr/>
        </p:nvSpPr>
        <p:spPr>
          <a:xfrm>
            <a:off x="5778500" y="3022600"/>
            <a:ext cx="635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3400" b="1">
                <a:solidFill>
                  <a:srgbClr val="64646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56DC319-48C1-58B5-0C80-9529CC6647C9}"/>
              </a:ext>
            </a:extLst>
          </p:cNvPr>
          <p:cNvSpPr/>
          <p:nvPr/>
        </p:nvSpPr>
        <p:spPr>
          <a:xfrm>
            <a:off x="6858000" y="2387600"/>
            <a:ext cx="3937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C7F5B0-A305-7FE7-5B3C-BC427C00EF87}"/>
              </a:ext>
            </a:extLst>
          </p:cNvPr>
          <p:cNvSpPr/>
          <p:nvPr/>
        </p:nvSpPr>
        <p:spPr>
          <a:xfrm>
            <a:off x="6858000" y="2387600"/>
            <a:ext cx="76200" cy="2032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68B315-AD25-3C6B-A3CC-6B610095503A}"/>
              </a:ext>
            </a:extLst>
          </p:cNvPr>
          <p:cNvSpPr txBox="1"/>
          <p:nvPr/>
        </p:nvSpPr>
        <p:spPr>
          <a:xfrm>
            <a:off x="7086600" y="2616200"/>
            <a:ext cx="3505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可视化看板 </a:t>
            </a:r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—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业务表达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E376E4-7124-2723-8A56-1C8048207BAB}"/>
              </a:ext>
            </a:extLst>
          </p:cNvPr>
          <p:cNvSpPr txBox="1"/>
          <p:nvPr/>
        </p:nvSpPr>
        <p:spPr>
          <a:xfrm>
            <a:off x="7086600" y="30480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重点更突出，适合汇报；后续可以继续复用、自动更新和迭代。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2219599-EF8D-EC45-F1AF-ECF20E04FD7A}"/>
              </a:ext>
            </a:extLst>
          </p:cNvPr>
          <p:cNvSpPr/>
          <p:nvPr/>
        </p:nvSpPr>
        <p:spPr>
          <a:xfrm>
            <a:off x="1905000" y="5143500"/>
            <a:ext cx="8382000" cy="7366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7C5266-924D-7D63-720B-A1F223BAB1FE}"/>
              </a:ext>
            </a:extLst>
          </p:cNvPr>
          <p:cNvSpPr txBox="1"/>
          <p:nvPr/>
        </p:nvSpPr>
        <p:spPr>
          <a:xfrm>
            <a:off x="2260600" y="5359400"/>
            <a:ext cx="76708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价值：把原来“需要解释很久”的表格，变成“能快速看懂、追问和行动”的经营沟通工具。</a:t>
            </a:r>
          </a:p>
        </p:txBody>
      </p:sp>
    </p:spTree>
    <p:extLst>
      <p:ext uri="{BB962C8B-B14F-4D97-AF65-F5344CB8AC3E}">
        <p14:creationId xmlns:p14="http://schemas.microsoft.com/office/powerpoint/2010/main" val="2394637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349D28-DB41-FEAF-FC22-662F98A7E4B8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03-5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模拟提问案例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C66090-4992-2F5A-40DA-A945A891F0D4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当成“会做事的助理”，而不是搜索框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386D2C-1A4A-ACC3-CF12-C1312E72B488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用几个模拟提问，展示我是如何一步步把 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数据推进成销售运营看板的。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492AB2D-F2F8-22A5-B293-E98EDD35429E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312248A-70F2-EB9F-D8A6-B0056A689DED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10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824C93E-A79C-52FD-8F92-84DBC9A7D645}"/>
              </a:ext>
            </a:extLst>
          </p:cNvPr>
          <p:cNvSpPr/>
          <p:nvPr/>
        </p:nvSpPr>
        <p:spPr>
          <a:xfrm>
            <a:off x="1016000" y="2286000"/>
            <a:ext cx="4445000" cy="1333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C63C8-E214-F2F2-69CF-E5F998D85FBA}"/>
              </a:ext>
            </a:extLst>
          </p:cNvPr>
          <p:cNvSpPr/>
          <p:nvPr/>
        </p:nvSpPr>
        <p:spPr>
          <a:xfrm>
            <a:off x="1016000" y="2286000"/>
            <a:ext cx="76200" cy="13335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A23DA-A934-F49D-1AD3-C9FD8E6B5C7C}"/>
              </a:ext>
            </a:extLst>
          </p:cNvPr>
          <p:cNvSpPr txBox="1"/>
          <p:nvPr/>
        </p:nvSpPr>
        <p:spPr>
          <a:xfrm>
            <a:off x="1244600" y="2514600"/>
            <a:ext cx="401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1 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先让 </a:t>
            </a:r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理解任务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51C5EC-B5EB-C1B9-6B2A-DFA6C582A41F}"/>
              </a:ext>
            </a:extLst>
          </p:cNvPr>
          <p:cNvSpPr txBox="1"/>
          <p:nvPr/>
        </p:nvSpPr>
        <p:spPr>
          <a:xfrm>
            <a:off x="1244600" y="2946400"/>
            <a:ext cx="4013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给销售与库存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Excel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，搭一套适合经营复盘的分析框架。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7E681E-326B-0660-3D99-351CBFDD0FFD}"/>
              </a:ext>
            </a:extLst>
          </p:cNvPr>
          <p:cNvSpPr/>
          <p:nvPr/>
        </p:nvSpPr>
        <p:spPr>
          <a:xfrm>
            <a:off x="6350000" y="2286000"/>
            <a:ext cx="4445000" cy="1333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A7792B-A44A-5306-D9C0-57B65274B212}"/>
              </a:ext>
            </a:extLst>
          </p:cNvPr>
          <p:cNvSpPr/>
          <p:nvPr/>
        </p:nvSpPr>
        <p:spPr>
          <a:xfrm>
            <a:off x="6350000" y="2286000"/>
            <a:ext cx="76200" cy="13335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63E23E0-6161-629E-7F63-C056441341F9}"/>
              </a:ext>
            </a:extLst>
          </p:cNvPr>
          <p:cNvSpPr txBox="1"/>
          <p:nvPr/>
        </p:nvSpPr>
        <p:spPr>
          <a:xfrm>
            <a:off x="6578600" y="2514600"/>
            <a:ext cx="401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2 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再让 </a:t>
            </a:r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整理重点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552B8C-949A-471A-2661-8D88C53BE562}"/>
              </a:ext>
            </a:extLst>
          </p:cNvPr>
          <p:cNvSpPr txBox="1"/>
          <p:nvPr/>
        </p:nvSpPr>
        <p:spPr>
          <a:xfrm>
            <a:off x="6578600" y="2946400"/>
            <a:ext cx="4013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把销售、客流、目标、库存等指标翻译成经营语言。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926A769-54AD-488C-7AE2-C11257779594}"/>
              </a:ext>
            </a:extLst>
          </p:cNvPr>
          <p:cNvSpPr/>
          <p:nvPr/>
        </p:nvSpPr>
        <p:spPr>
          <a:xfrm>
            <a:off x="1016000" y="4127500"/>
            <a:ext cx="4445000" cy="1333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EF39AC-2C70-6F44-6EB4-1D9AC84D6960}"/>
              </a:ext>
            </a:extLst>
          </p:cNvPr>
          <p:cNvSpPr/>
          <p:nvPr/>
        </p:nvSpPr>
        <p:spPr>
          <a:xfrm>
            <a:off x="1016000" y="4127500"/>
            <a:ext cx="76200" cy="1333500"/>
          </a:xfrm>
          <a:prstGeom prst="rect">
            <a:avLst/>
          </a:prstGeom>
          <a:solidFill>
            <a:srgbClr val="46A46C"/>
          </a:solidFill>
          <a:ln>
            <a:solidFill>
              <a:srgbClr val="46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1604387-4E53-C061-6E50-449A24B59F83}"/>
              </a:ext>
            </a:extLst>
          </p:cNvPr>
          <p:cNvSpPr txBox="1"/>
          <p:nvPr/>
        </p:nvSpPr>
        <p:spPr>
          <a:xfrm>
            <a:off x="1244600" y="4356100"/>
            <a:ext cx="401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3 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让 </a:t>
            </a:r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生成看板结构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A8A19B-21BC-5B79-A5E7-3C4652680616}"/>
              </a:ext>
            </a:extLst>
          </p:cNvPr>
          <p:cNvSpPr txBox="1"/>
          <p:nvPr/>
        </p:nvSpPr>
        <p:spPr>
          <a:xfrm>
            <a:off x="1244600" y="4787900"/>
            <a:ext cx="4013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设计可视化页面：总览、门店、品类、商品和预警。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1DAA9A3-DD80-4E42-CE00-F3E3A80DDC75}"/>
              </a:ext>
            </a:extLst>
          </p:cNvPr>
          <p:cNvSpPr/>
          <p:nvPr/>
        </p:nvSpPr>
        <p:spPr>
          <a:xfrm>
            <a:off x="6350000" y="4127500"/>
            <a:ext cx="4445000" cy="1333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67FB17-7646-C70B-315B-B2DE48DFA087}"/>
              </a:ext>
            </a:extLst>
          </p:cNvPr>
          <p:cNvSpPr/>
          <p:nvPr/>
        </p:nvSpPr>
        <p:spPr>
          <a:xfrm>
            <a:off x="6350000" y="4127500"/>
            <a:ext cx="76200" cy="1333500"/>
          </a:xfrm>
          <a:prstGeom prst="rect">
            <a:avLst/>
          </a:prstGeom>
          <a:solidFill>
            <a:srgbClr val="F6992E"/>
          </a:solidFill>
          <a:ln>
            <a:solidFill>
              <a:srgbClr val="F69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61C840-8530-24F6-F532-6603D9B94A83}"/>
              </a:ext>
            </a:extLst>
          </p:cNvPr>
          <p:cNvSpPr txBox="1"/>
          <p:nvPr/>
        </p:nvSpPr>
        <p:spPr>
          <a:xfrm>
            <a:off x="6578600" y="4356100"/>
            <a:ext cx="401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4 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根据反馈继续优化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13D0C2-D7C2-258C-6A58-3191BDFCADAC}"/>
              </a:ext>
            </a:extLst>
          </p:cNvPr>
          <p:cNvSpPr txBox="1"/>
          <p:nvPr/>
        </p:nvSpPr>
        <p:spPr>
          <a:xfrm>
            <a:off x="6578600" y="4787900"/>
            <a:ext cx="4013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把内容改成结论先行，减少无关信息，突出行动建议。</a:t>
            </a:r>
          </a:p>
        </p:txBody>
      </p:sp>
    </p:spTree>
    <p:extLst>
      <p:ext uri="{BB962C8B-B14F-4D97-AF65-F5344CB8AC3E}">
        <p14:creationId xmlns:p14="http://schemas.microsoft.com/office/powerpoint/2010/main" val="591228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8206B4-A843-4B88-0AA0-B7283BCBEA41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03-6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模拟提问案例 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4A3A26-CCA1-9B3A-AF6B-E26F7EF2A7B6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场景：把 </a:t>
            </a:r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内容转成分析框架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65351B-6A28-8CA0-8955-31041AB7372D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目标不是让 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直接给结论，而是先让它帮我建立清晰的报告结构。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BAE6EC6-2104-3BD6-0C82-658C26A2D894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DD4A68D-EBC7-3AC1-89AF-26EE2A4AD9F2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11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21C155B-DE33-18CC-54E0-AE5034F4FC11}"/>
              </a:ext>
            </a:extLst>
          </p:cNvPr>
          <p:cNvSpPr/>
          <p:nvPr/>
        </p:nvSpPr>
        <p:spPr>
          <a:xfrm>
            <a:off x="889000" y="2286000"/>
            <a:ext cx="49530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627439-9607-9D93-0E89-BE5FB0E960A9}"/>
              </a:ext>
            </a:extLst>
          </p:cNvPr>
          <p:cNvSpPr/>
          <p:nvPr/>
        </p:nvSpPr>
        <p:spPr>
          <a:xfrm>
            <a:off x="889000" y="2286000"/>
            <a:ext cx="76200" cy="3048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F1F6A0-D719-A4D1-ADA1-46F944BF99CC}"/>
              </a:ext>
            </a:extLst>
          </p:cNvPr>
          <p:cNvSpPr txBox="1"/>
          <p:nvPr/>
        </p:nvSpPr>
        <p:spPr>
          <a:xfrm>
            <a:off x="1117600" y="2514600"/>
            <a:ext cx="452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我的提问示例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B54300-A922-707E-C14B-E470C64ADACF}"/>
              </a:ext>
            </a:extLst>
          </p:cNvPr>
          <p:cNvSpPr txBox="1"/>
          <p:nvPr/>
        </p:nvSpPr>
        <p:spPr>
          <a:xfrm>
            <a:off x="1117600" y="2946400"/>
            <a:ext cx="45212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我有一份线下直营门店销售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和库存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Excel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，包含净销售额、客流、成交笔数、目标、毛利、品类、款式和库存。请设计一套适合老板阅读的销售运营分析框架：先看整体，再看门店差异，最后输出可行动建议。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66CA5D0-6FC1-E10F-B8BB-F58067679E27}"/>
              </a:ext>
            </a:extLst>
          </p:cNvPr>
          <p:cNvSpPr/>
          <p:nvPr/>
        </p:nvSpPr>
        <p:spPr>
          <a:xfrm>
            <a:off x="6350000" y="2286000"/>
            <a:ext cx="49530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3AF43F-5286-32CB-185C-B6F2CB069756}"/>
              </a:ext>
            </a:extLst>
          </p:cNvPr>
          <p:cNvSpPr/>
          <p:nvPr/>
        </p:nvSpPr>
        <p:spPr>
          <a:xfrm>
            <a:off x="6350000" y="2286000"/>
            <a:ext cx="76200" cy="3048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CBA632-7E93-FD7D-10E6-EBD0E83AA0BE}"/>
              </a:ext>
            </a:extLst>
          </p:cNvPr>
          <p:cNvSpPr txBox="1"/>
          <p:nvPr/>
        </p:nvSpPr>
        <p:spPr>
          <a:xfrm>
            <a:off x="6578600" y="2514600"/>
            <a:ext cx="452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预期产出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8629E5-20E6-51E8-EF5B-F2B103CED358}"/>
              </a:ext>
            </a:extLst>
          </p:cNvPr>
          <p:cNvSpPr txBox="1"/>
          <p:nvPr/>
        </p:nvSpPr>
        <p:spPr>
          <a:xfrm>
            <a:off x="6578600" y="2946400"/>
            <a:ext cx="4521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整体销售表现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门店分层：增长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修复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承压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关键指标解释：销售、毛利、客流、达成、库存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商品机会与库存风险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对陈列、调拨、促销的启发</a:t>
            </a:r>
          </a:p>
        </p:txBody>
      </p:sp>
    </p:spTree>
    <p:extLst>
      <p:ext uri="{BB962C8B-B14F-4D97-AF65-F5344CB8AC3E}">
        <p14:creationId xmlns:p14="http://schemas.microsoft.com/office/powerpoint/2010/main" val="4087067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65BBE9F-B3DD-8165-504B-07DAC09722D8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03-7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模拟提问案例 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BA5827-CF1D-867E-051F-1AE150CF8723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场景：把数据语言转成业务语言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B0CE66-424E-5A5A-B599-A065DA9694F7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指标不能只停留在同比环比，还要转化为业务部门能理解的经营判断。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823AFB8-DC0E-FC27-EB0D-653AFDF194AC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B847249-2755-B333-3B83-E4C8735BF722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12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4761054-7507-77BB-5B51-47B5D42ADD6B}"/>
              </a:ext>
            </a:extLst>
          </p:cNvPr>
          <p:cNvSpPr/>
          <p:nvPr/>
        </p:nvSpPr>
        <p:spPr>
          <a:xfrm>
            <a:off x="889000" y="2286000"/>
            <a:ext cx="49530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5B5B3E-293A-8DEF-D5E2-67C2E6F6A234}"/>
              </a:ext>
            </a:extLst>
          </p:cNvPr>
          <p:cNvSpPr/>
          <p:nvPr/>
        </p:nvSpPr>
        <p:spPr>
          <a:xfrm>
            <a:off x="889000" y="2286000"/>
            <a:ext cx="76200" cy="3048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538894-ECC1-0F1A-3B86-9227E8E86545}"/>
              </a:ext>
            </a:extLst>
          </p:cNvPr>
          <p:cNvSpPr txBox="1"/>
          <p:nvPr/>
        </p:nvSpPr>
        <p:spPr>
          <a:xfrm>
            <a:off x="1117600" y="2514600"/>
            <a:ext cx="452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我的提问示例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C3A4AB-696F-EFBF-2175-6F86520375DD}"/>
              </a:ext>
            </a:extLst>
          </p:cNvPr>
          <p:cNvSpPr txBox="1"/>
          <p:nvPr/>
        </p:nvSpPr>
        <p:spPr>
          <a:xfrm>
            <a:off x="1117600" y="2946400"/>
            <a:ext cx="4521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请不要只描述“销售增长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客流下降”，而是把这些指标转成业务语言。例如：销售增长可能来自客单提升或转化改善；库存占比过高可能说明慢销压力；售罄率高可能提示补货或调拨机会。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F101E50-0AA3-1E60-F92F-3C6EFF6350B7}"/>
              </a:ext>
            </a:extLst>
          </p:cNvPr>
          <p:cNvSpPr/>
          <p:nvPr/>
        </p:nvSpPr>
        <p:spPr>
          <a:xfrm>
            <a:off x="6350000" y="2286000"/>
            <a:ext cx="49530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0B3ECC-011A-95AD-2C74-3E41BDBCD823}"/>
              </a:ext>
            </a:extLst>
          </p:cNvPr>
          <p:cNvSpPr/>
          <p:nvPr/>
        </p:nvSpPr>
        <p:spPr>
          <a:xfrm>
            <a:off x="6350000" y="2286000"/>
            <a:ext cx="76200" cy="3048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EC68E8-197B-1420-1E1D-18B81A2A0221}"/>
              </a:ext>
            </a:extLst>
          </p:cNvPr>
          <p:cNvSpPr txBox="1"/>
          <p:nvPr/>
        </p:nvSpPr>
        <p:spPr>
          <a:xfrm>
            <a:off x="6578600" y="2514600"/>
            <a:ext cx="452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预期产出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F7300F-4B3A-B2D0-1A8F-14692323A319}"/>
              </a:ext>
            </a:extLst>
          </p:cNvPr>
          <p:cNvSpPr txBox="1"/>
          <p:nvPr/>
        </p:nvSpPr>
        <p:spPr>
          <a:xfrm>
            <a:off x="6578600" y="2946400"/>
            <a:ext cx="45212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销售变化 → 门店效率、品类动销、活动拉动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客流变化 → 进店吸引、商场环境、转化效率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毛利变化 → 折扣控制、产品结构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库存变化 → 资金占用、清货压力、调拨机会</a:t>
            </a:r>
          </a:p>
        </p:txBody>
      </p:sp>
    </p:spTree>
    <p:extLst>
      <p:ext uri="{BB962C8B-B14F-4D97-AF65-F5344CB8AC3E}">
        <p14:creationId xmlns:p14="http://schemas.microsoft.com/office/powerpoint/2010/main" val="3428816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342BD3-7A4C-A58E-E27A-7A5F4475D764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 dirty="0">
                <a:solidFill>
                  <a:srgbClr val="646460"/>
                </a:solidFill>
                <a:latin typeface="Microsoft YaHei" panose="020B0503020204020204" pitchFamily="34" charset="-122"/>
              </a:rPr>
              <a:t>03-8 / </a:t>
            </a:r>
            <a:r>
              <a:rPr lang="zh-CN" altLang="en-US" sz="1100" dirty="0">
                <a:solidFill>
                  <a:srgbClr val="646460"/>
                </a:solidFill>
                <a:latin typeface="Microsoft YaHei" panose="020B0503020204020204" pitchFamily="34" charset="-122"/>
              </a:rPr>
              <a:t>模拟提问案例 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17A9FF-D4AC-80C3-73D1-D1365DF9AB33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场景：让 </a:t>
            </a:r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生成可视化看板结构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99AD9A-C838-B3A4-FD36-7BDFDB5715E5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当内容已经整理好后，再让 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把报告转成更适合展示的页面结构。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584D34A-1E92-1BDC-5124-338D88DBE5E7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6ECC42E-FC20-820A-52D0-308CB8A1D861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13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A079D49-9EA8-9737-88DE-349F66048B65}"/>
              </a:ext>
            </a:extLst>
          </p:cNvPr>
          <p:cNvSpPr/>
          <p:nvPr/>
        </p:nvSpPr>
        <p:spPr>
          <a:xfrm>
            <a:off x="889000" y="2286000"/>
            <a:ext cx="49530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D7F5E3-BAD9-C454-E354-E695F011AEB6}"/>
              </a:ext>
            </a:extLst>
          </p:cNvPr>
          <p:cNvSpPr/>
          <p:nvPr/>
        </p:nvSpPr>
        <p:spPr>
          <a:xfrm>
            <a:off x="889000" y="2286000"/>
            <a:ext cx="76200" cy="3048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A02682-6199-79DB-FC94-33CBD104CE9C}"/>
              </a:ext>
            </a:extLst>
          </p:cNvPr>
          <p:cNvSpPr txBox="1"/>
          <p:nvPr/>
        </p:nvSpPr>
        <p:spPr>
          <a:xfrm>
            <a:off x="1117600" y="2514600"/>
            <a:ext cx="452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我的提问示例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572D81-D96E-10A4-19C2-D7BFDA01BB10}"/>
              </a:ext>
            </a:extLst>
          </p:cNvPr>
          <p:cNvSpPr txBox="1"/>
          <p:nvPr/>
        </p:nvSpPr>
        <p:spPr>
          <a:xfrm>
            <a:off x="1117600" y="2946400"/>
            <a:ext cx="45212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请基于上面的销售运营分析内容，设计一个可视化看板页面：风格贴合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DAPHNE.LAB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；首页有核心指标概览；支持门店和周期切换；对销售增长、库存压力、售罄风险用标签区分；适合给老板快速浏览。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8C567B1-009A-E606-6FB2-06D12EAF3CC0}"/>
              </a:ext>
            </a:extLst>
          </p:cNvPr>
          <p:cNvSpPr/>
          <p:nvPr/>
        </p:nvSpPr>
        <p:spPr>
          <a:xfrm>
            <a:off x="6350000" y="2286000"/>
            <a:ext cx="49530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04118E-4B98-D3F5-F651-71B064688F31}"/>
              </a:ext>
            </a:extLst>
          </p:cNvPr>
          <p:cNvSpPr/>
          <p:nvPr/>
        </p:nvSpPr>
        <p:spPr>
          <a:xfrm>
            <a:off x="6350000" y="2286000"/>
            <a:ext cx="76200" cy="3048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3867BD-AF61-BAA9-657C-DA8B5B1CDDD8}"/>
              </a:ext>
            </a:extLst>
          </p:cNvPr>
          <p:cNvSpPr txBox="1"/>
          <p:nvPr/>
        </p:nvSpPr>
        <p:spPr>
          <a:xfrm>
            <a:off x="6578600" y="2514600"/>
            <a:ext cx="452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预期产出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2D25F1-8D75-BF98-C9A9-05127E927424}"/>
              </a:ext>
            </a:extLst>
          </p:cNvPr>
          <p:cNvSpPr txBox="1"/>
          <p:nvPr/>
        </p:nvSpPr>
        <p:spPr>
          <a:xfrm>
            <a:off x="6578600" y="2946400"/>
            <a:ext cx="4521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顶部：标题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数据状态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筛选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中部：客流、销售、毛利、目标达成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下部：门店对比、库存结构、商品排行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视觉：品牌色、图表模块、预警卡片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交互：门店、周期、品类、排行切换</a:t>
            </a:r>
          </a:p>
        </p:txBody>
      </p:sp>
    </p:spTree>
    <p:extLst>
      <p:ext uri="{BB962C8B-B14F-4D97-AF65-F5344CB8AC3E}">
        <p14:creationId xmlns:p14="http://schemas.microsoft.com/office/powerpoint/2010/main" val="3274649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1DDD40-04E4-CF26-63E5-25CBA1A969CA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03-9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模拟提问案例 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32A365-B56A-C796-B1D0-FDE252B4D1AB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场景：根据反馈继续优化版本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F61C41-F037-06B0-7B36-A6D5AA7E4697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最有价值的地方不是一次生成，而是可以持续追问、持续迭代。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B441E11-833C-E339-E6FC-9B70F9D7069C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BB106D6-5DE8-4587-B5C6-61F0E9D5FA92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14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FDD6D6C-3EFC-3423-31BC-0E1F1255983D}"/>
              </a:ext>
            </a:extLst>
          </p:cNvPr>
          <p:cNvSpPr/>
          <p:nvPr/>
        </p:nvSpPr>
        <p:spPr>
          <a:xfrm>
            <a:off x="889000" y="2286000"/>
            <a:ext cx="49530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126E4B-CC5B-5CD8-A29B-DC0ADD1F301C}"/>
              </a:ext>
            </a:extLst>
          </p:cNvPr>
          <p:cNvSpPr/>
          <p:nvPr/>
        </p:nvSpPr>
        <p:spPr>
          <a:xfrm>
            <a:off x="889000" y="2286000"/>
            <a:ext cx="76200" cy="3048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92D5AE-929B-2739-9392-B62E3059DEB0}"/>
              </a:ext>
            </a:extLst>
          </p:cNvPr>
          <p:cNvSpPr txBox="1"/>
          <p:nvPr/>
        </p:nvSpPr>
        <p:spPr>
          <a:xfrm>
            <a:off x="1117600" y="2514600"/>
            <a:ext cx="452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我的追问示例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1B1B34-6DC7-7980-6CA6-C94A2C0E92BF}"/>
              </a:ext>
            </a:extLst>
          </p:cNvPr>
          <p:cNvSpPr txBox="1"/>
          <p:nvPr/>
        </p:nvSpPr>
        <p:spPr>
          <a:xfrm>
            <a:off x="1117600" y="2946400"/>
            <a:ext cx="4521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这个版本内容有点散，请改成“经营预警优先”的表达：先展示库存压力和销售异常，再展示客流、销售、毛利、门店对比。商品排行要能按销售额、销量、毛利切换，并显示库存和售罄率。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DB2FA22-8ECD-2573-84C4-3C95207BD4C6}"/>
              </a:ext>
            </a:extLst>
          </p:cNvPr>
          <p:cNvSpPr/>
          <p:nvPr/>
        </p:nvSpPr>
        <p:spPr>
          <a:xfrm>
            <a:off x="6350000" y="2286000"/>
            <a:ext cx="49530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B80C9A-4AFC-6F7B-D95D-2D0EF873A5A2}"/>
              </a:ext>
            </a:extLst>
          </p:cNvPr>
          <p:cNvSpPr/>
          <p:nvPr/>
        </p:nvSpPr>
        <p:spPr>
          <a:xfrm>
            <a:off x="6350000" y="2286000"/>
            <a:ext cx="76200" cy="3048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5A96E8-2D9E-CE3B-EE32-C20132BD10B9}"/>
              </a:ext>
            </a:extLst>
          </p:cNvPr>
          <p:cNvSpPr txBox="1"/>
          <p:nvPr/>
        </p:nvSpPr>
        <p:spPr>
          <a:xfrm>
            <a:off x="6578600" y="2514600"/>
            <a:ext cx="4521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预期产出（修改方向）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940A36-60BE-AF93-77AF-568487A705FB}"/>
              </a:ext>
            </a:extLst>
          </p:cNvPr>
          <p:cNvSpPr txBox="1"/>
          <p:nvPr/>
        </p:nvSpPr>
        <p:spPr>
          <a:xfrm>
            <a:off x="6578600" y="2946400"/>
            <a:ext cx="45212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预警中心前置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核心指标分组展示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门店对比表格化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库存结构加入售罄判断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商品排行加入品类筛选</a:t>
            </a:r>
          </a:p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删除不影响决策的信息</a:t>
            </a:r>
          </a:p>
        </p:txBody>
      </p:sp>
    </p:spTree>
    <p:extLst>
      <p:ext uri="{BB962C8B-B14F-4D97-AF65-F5344CB8AC3E}">
        <p14:creationId xmlns:p14="http://schemas.microsoft.com/office/powerpoint/2010/main" val="391420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A7E9D7-B732-100D-0FE1-075984335B25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03-10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可复制模板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DF2038-5FEF-36CB-880F-80B03B0B8C65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以后做报告，可以按这个结构向 </a:t>
            </a:r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提问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BC1E10-E3C3-2060-0026-3AF3DED4CCB6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用固定结构提问，可以明显提高 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输出质量。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CC8932C-2480-B165-E0C4-BC4CD13F8CB8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3C7C21F-E98D-4E5A-9DFC-9E4A09F790C5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15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35E804C-6BCD-751E-E2C6-D2832FA56818}"/>
              </a:ext>
            </a:extLst>
          </p:cNvPr>
          <p:cNvSpPr/>
          <p:nvPr/>
        </p:nvSpPr>
        <p:spPr>
          <a:xfrm>
            <a:off x="1016000" y="2260600"/>
            <a:ext cx="3175000" cy="1079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08CD8D-C08A-1DCB-A31E-369A86004EEC}"/>
              </a:ext>
            </a:extLst>
          </p:cNvPr>
          <p:cNvSpPr/>
          <p:nvPr/>
        </p:nvSpPr>
        <p:spPr>
          <a:xfrm>
            <a:off x="1016000" y="2260600"/>
            <a:ext cx="76200" cy="10795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EE3E65-7477-D5DD-F10E-1242F399D2A8}"/>
              </a:ext>
            </a:extLst>
          </p:cNvPr>
          <p:cNvSpPr txBox="1"/>
          <p:nvPr/>
        </p:nvSpPr>
        <p:spPr>
          <a:xfrm>
            <a:off x="1244600" y="24892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角色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680C35-A32A-5A6C-90CB-3212AA67191A}"/>
              </a:ext>
            </a:extLst>
          </p:cNvPr>
          <p:cNvSpPr txBox="1"/>
          <p:nvPr/>
        </p:nvSpPr>
        <p:spPr>
          <a:xfrm>
            <a:off x="1244600" y="2921000"/>
            <a:ext cx="2743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你是一个商品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经营分析助理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A9BD9D9-900A-20F0-5C74-2BF966363F8F}"/>
              </a:ext>
            </a:extLst>
          </p:cNvPr>
          <p:cNvSpPr/>
          <p:nvPr/>
        </p:nvSpPr>
        <p:spPr>
          <a:xfrm>
            <a:off x="4635500" y="2260600"/>
            <a:ext cx="3175000" cy="1079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C1724F-318A-1226-1710-C93CDA882716}"/>
              </a:ext>
            </a:extLst>
          </p:cNvPr>
          <p:cNvSpPr/>
          <p:nvPr/>
        </p:nvSpPr>
        <p:spPr>
          <a:xfrm>
            <a:off x="4635500" y="2260600"/>
            <a:ext cx="76200" cy="10795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03A06F-0E92-41AC-AD68-A9BDED8D7331}"/>
              </a:ext>
            </a:extLst>
          </p:cNvPr>
          <p:cNvSpPr txBox="1"/>
          <p:nvPr/>
        </p:nvSpPr>
        <p:spPr>
          <a:xfrm>
            <a:off x="4864100" y="24892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任务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EF1DDC-BCF6-44E9-FE95-F51EC23A7388}"/>
              </a:ext>
            </a:extLst>
          </p:cNvPr>
          <p:cNvSpPr txBox="1"/>
          <p:nvPr/>
        </p:nvSpPr>
        <p:spPr>
          <a:xfrm>
            <a:off x="4864100" y="2921000"/>
            <a:ext cx="2743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销售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库存数据做成汇报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6076C21-25FE-805F-B5AB-B6E1CED0623C}"/>
              </a:ext>
            </a:extLst>
          </p:cNvPr>
          <p:cNvSpPr/>
          <p:nvPr/>
        </p:nvSpPr>
        <p:spPr>
          <a:xfrm>
            <a:off x="8255000" y="2260600"/>
            <a:ext cx="3175000" cy="1079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0D930A-6B79-81AC-DA6E-7FBDD674BE03}"/>
              </a:ext>
            </a:extLst>
          </p:cNvPr>
          <p:cNvSpPr/>
          <p:nvPr/>
        </p:nvSpPr>
        <p:spPr>
          <a:xfrm>
            <a:off x="8255000" y="2260600"/>
            <a:ext cx="76200" cy="10795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B88F78-33A1-645B-E068-DAF640CDE80D}"/>
              </a:ext>
            </a:extLst>
          </p:cNvPr>
          <p:cNvSpPr txBox="1"/>
          <p:nvPr/>
        </p:nvSpPr>
        <p:spPr>
          <a:xfrm>
            <a:off x="8483600" y="24892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素材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98E6F2E-DE44-15F8-8C98-D83882643D66}"/>
              </a:ext>
            </a:extLst>
          </p:cNvPr>
          <p:cNvSpPr txBox="1"/>
          <p:nvPr/>
        </p:nvSpPr>
        <p:spPr>
          <a:xfrm>
            <a:off x="8483600" y="2921000"/>
            <a:ext cx="2743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说明字段、口径、时间范围、门店范围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9E3F18A-ECB2-E692-9F0F-DB6A7A1178E2}"/>
              </a:ext>
            </a:extLst>
          </p:cNvPr>
          <p:cNvSpPr/>
          <p:nvPr/>
        </p:nvSpPr>
        <p:spPr>
          <a:xfrm>
            <a:off x="1016000" y="3683000"/>
            <a:ext cx="3175000" cy="1079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0BD8F5-4C17-F230-1553-B2346A4C4871}"/>
              </a:ext>
            </a:extLst>
          </p:cNvPr>
          <p:cNvSpPr/>
          <p:nvPr/>
        </p:nvSpPr>
        <p:spPr>
          <a:xfrm>
            <a:off x="1016000" y="3683000"/>
            <a:ext cx="76200" cy="10795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697722E-EF8E-32B2-D30F-B8AEACDFD2DF}"/>
              </a:ext>
            </a:extLst>
          </p:cNvPr>
          <p:cNvSpPr txBox="1"/>
          <p:nvPr/>
        </p:nvSpPr>
        <p:spPr>
          <a:xfrm>
            <a:off x="1244600" y="39116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目标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D90E5B-2709-E634-9743-A91639B379E2}"/>
              </a:ext>
            </a:extLst>
          </p:cNvPr>
          <p:cNvSpPr txBox="1"/>
          <p:nvPr/>
        </p:nvSpPr>
        <p:spPr>
          <a:xfrm>
            <a:off x="1244600" y="4343400"/>
            <a:ext cx="2743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给老板快速看懂重点，并输出行动建议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38B2468-9312-7B92-8B30-D505431A0AAE}"/>
              </a:ext>
            </a:extLst>
          </p:cNvPr>
          <p:cNvSpPr/>
          <p:nvPr/>
        </p:nvSpPr>
        <p:spPr>
          <a:xfrm>
            <a:off x="4635500" y="3683000"/>
            <a:ext cx="3175000" cy="1079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AE6BD2-FA32-576F-2C28-27CD48FA7401}"/>
              </a:ext>
            </a:extLst>
          </p:cNvPr>
          <p:cNvSpPr/>
          <p:nvPr/>
        </p:nvSpPr>
        <p:spPr>
          <a:xfrm>
            <a:off x="4635500" y="3683000"/>
            <a:ext cx="76200" cy="10795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CB15086-BEAA-8563-0D98-0CD7398BAF2A}"/>
              </a:ext>
            </a:extLst>
          </p:cNvPr>
          <p:cNvSpPr txBox="1"/>
          <p:nvPr/>
        </p:nvSpPr>
        <p:spPr>
          <a:xfrm>
            <a:off x="4864100" y="39116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风格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68AA25-9472-0FA4-2FD8-E28D976B37BB}"/>
              </a:ext>
            </a:extLst>
          </p:cNvPr>
          <p:cNvSpPr txBox="1"/>
          <p:nvPr/>
        </p:nvSpPr>
        <p:spPr>
          <a:xfrm>
            <a:off x="4864100" y="4343400"/>
            <a:ext cx="2743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商务、清晰、结论先行、适合分享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074357B-71CE-04EC-AF99-EB382556FEB0}"/>
              </a:ext>
            </a:extLst>
          </p:cNvPr>
          <p:cNvSpPr/>
          <p:nvPr/>
        </p:nvSpPr>
        <p:spPr>
          <a:xfrm>
            <a:off x="8255000" y="3683000"/>
            <a:ext cx="3175000" cy="1079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1FF3546-EEFA-15C8-73D9-E8A8DE493DDA}"/>
              </a:ext>
            </a:extLst>
          </p:cNvPr>
          <p:cNvSpPr/>
          <p:nvPr/>
        </p:nvSpPr>
        <p:spPr>
          <a:xfrm>
            <a:off x="8255000" y="3683000"/>
            <a:ext cx="76200" cy="10795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CEDFD31-1253-F12D-FBDF-C5F1E394A7E7}"/>
              </a:ext>
            </a:extLst>
          </p:cNvPr>
          <p:cNvSpPr txBox="1"/>
          <p:nvPr/>
        </p:nvSpPr>
        <p:spPr>
          <a:xfrm>
            <a:off x="8483600" y="39116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边界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E1464C-CB42-0873-8BCD-021C467E9D04}"/>
              </a:ext>
            </a:extLst>
          </p:cNvPr>
          <p:cNvSpPr txBox="1"/>
          <p:nvPr/>
        </p:nvSpPr>
        <p:spPr>
          <a:xfrm>
            <a:off x="8483600" y="4343400"/>
            <a:ext cx="2743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不要编造数据；不确定的口径要提示校验</a:t>
            </a:r>
          </a:p>
        </p:txBody>
      </p:sp>
    </p:spTree>
    <p:extLst>
      <p:ext uri="{BB962C8B-B14F-4D97-AF65-F5344CB8AC3E}">
        <p14:creationId xmlns:p14="http://schemas.microsoft.com/office/powerpoint/2010/main" val="458447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1D10DE6-0CB7-E561-E4A6-F374854EE1F6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04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帮助点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5A5247-3A5B-0112-49FD-29AF824B3711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具体帮我完成了什么？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04A036-0D37-444B-FAB3-0F0505458601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把大量信息从“能看懂”推进到“能讲清楚、能展示、能复用”。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B7D507C-68FC-F684-02A8-12CB0C42265F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8EBECF3-916D-ED28-CAC6-E4EEEBADA3C9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16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A59CB9D-9A79-FC27-4852-3DD9283D86E3}"/>
              </a:ext>
            </a:extLst>
          </p:cNvPr>
          <p:cNvSpPr/>
          <p:nvPr/>
        </p:nvSpPr>
        <p:spPr>
          <a:xfrm>
            <a:off x="889000" y="2349500"/>
            <a:ext cx="3175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3CF653-5F4E-8DD6-51BC-2E5F941E9058}"/>
              </a:ext>
            </a:extLst>
          </p:cNvPr>
          <p:cNvSpPr/>
          <p:nvPr/>
        </p:nvSpPr>
        <p:spPr>
          <a:xfrm>
            <a:off x="889000" y="2349500"/>
            <a:ext cx="76200" cy="19685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56BDFE-9C82-DDF1-61E0-CAD5A4A8C419}"/>
              </a:ext>
            </a:extLst>
          </p:cNvPr>
          <p:cNvSpPr txBox="1"/>
          <p:nvPr/>
        </p:nvSpPr>
        <p:spPr>
          <a:xfrm>
            <a:off x="1117600" y="25781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信息结构化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F32F4E-5E0E-C2DA-2CE9-099B1BE58E51}"/>
              </a:ext>
            </a:extLst>
          </p:cNvPr>
          <p:cNvSpPr txBox="1"/>
          <p:nvPr/>
        </p:nvSpPr>
        <p:spPr>
          <a:xfrm>
            <a:off x="1117600" y="30099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把分散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信息拆成销售、客流、毛利、目标、库存、商品与预警。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A6B6BE8-2B7C-DF4B-B3F8-93E748C05992}"/>
              </a:ext>
            </a:extLst>
          </p:cNvPr>
          <p:cNvSpPr/>
          <p:nvPr/>
        </p:nvSpPr>
        <p:spPr>
          <a:xfrm>
            <a:off x="4508500" y="2349500"/>
            <a:ext cx="3175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482475-6160-38E1-4149-E923E335FC78}"/>
              </a:ext>
            </a:extLst>
          </p:cNvPr>
          <p:cNvSpPr/>
          <p:nvPr/>
        </p:nvSpPr>
        <p:spPr>
          <a:xfrm>
            <a:off x="4508500" y="2349500"/>
            <a:ext cx="76200" cy="19685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6A321D-773F-344C-4254-1465E23CAD1F}"/>
              </a:ext>
            </a:extLst>
          </p:cNvPr>
          <p:cNvSpPr txBox="1"/>
          <p:nvPr/>
        </p:nvSpPr>
        <p:spPr>
          <a:xfrm>
            <a:off x="4737100" y="25781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语言业务化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A421270-AAA4-13B9-B780-B6CA94F1CF30}"/>
              </a:ext>
            </a:extLst>
          </p:cNvPr>
          <p:cNvSpPr txBox="1"/>
          <p:nvPr/>
        </p:nvSpPr>
        <p:spPr>
          <a:xfrm>
            <a:off x="4737100" y="30099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把指标变化转成门店效率、库存压力、商品机会和经营动作。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75E6CB1-EC66-A633-EB6F-004FBFE296AC}"/>
              </a:ext>
            </a:extLst>
          </p:cNvPr>
          <p:cNvSpPr/>
          <p:nvPr/>
        </p:nvSpPr>
        <p:spPr>
          <a:xfrm>
            <a:off x="8128000" y="2349500"/>
            <a:ext cx="3175000" cy="19685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F29121-1C3A-2A52-92D8-9DD7C7C9C46D}"/>
              </a:ext>
            </a:extLst>
          </p:cNvPr>
          <p:cNvSpPr/>
          <p:nvPr/>
        </p:nvSpPr>
        <p:spPr>
          <a:xfrm>
            <a:off x="8128000" y="2349500"/>
            <a:ext cx="76200" cy="1968500"/>
          </a:xfrm>
          <a:prstGeom prst="rect">
            <a:avLst/>
          </a:prstGeom>
          <a:solidFill>
            <a:srgbClr val="46A46C"/>
          </a:solidFill>
          <a:ln>
            <a:solidFill>
              <a:srgbClr val="46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79C88CF-5BD0-F858-466F-B71069CD4561}"/>
              </a:ext>
            </a:extLst>
          </p:cNvPr>
          <p:cNvSpPr txBox="1"/>
          <p:nvPr/>
        </p:nvSpPr>
        <p:spPr>
          <a:xfrm>
            <a:off x="8356600" y="2578100"/>
            <a:ext cx="2743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呈现可视化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3EE5F4-E8FC-0473-08CB-29BE9DA7AFE5}"/>
              </a:ext>
            </a:extLst>
          </p:cNvPr>
          <p:cNvSpPr txBox="1"/>
          <p:nvPr/>
        </p:nvSpPr>
        <p:spPr>
          <a:xfrm>
            <a:off x="8356600" y="3009900"/>
            <a:ext cx="274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快速形成看板页面、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PPT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结构和适合汇报的表达方式。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387C05-A274-F47D-E3B1-A49B483C357C}"/>
              </a:ext>
            </a:extLst>
          </p:cNvPr>
          <p:cNvSpPr txBox="1"/>
          <p:nvPr/>
        </p:nvSpPr>
        <p:spPr>
          <a:xfrm>
            <a:off x="1651000" y="5143500"/>
            <a:ext cx="889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altLang="zh-CN" sz="1600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600">
                <a:solidFill>
                  <a:srgbClr val="1E1E1E"/>
                </a:solidFill>
                <a:latin typeface="Microsoft YaHei" panose="020B0503020204020204" pitchFamily="34" charset="-122"/>
              </a:rPr>
              <a:t>不替代业务判断，但能让“初稿、结构、转化、呈现”这几步明显提速。</a:t>
            </a:r>
          </a:p>
        </p:txBody>
      </p:sp>
    </p:spTree>
    <p:extLst>
      <p:ext uri="{BB962C8B-B14F-4D97-AF65-F5344CB8AC3E}">
        <p14:creationId xmlns:p14="http://schemas.microsoft.com/office/powerpoint/2010/main" val="2302971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CF8980-0CBF-FDCE-215A-8B268543EA12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05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前后对比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4E0279-5DB2-3C4A-0239-D8A436B8A7F6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前后变化：从“数据表”变成“业务看板”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9965A5-31AB-BF97-DCF7-73F8DEE850BD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核心变化不是形式变漂亮，而是让信息更容易被理解、讨论与行动。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83B8AE9-35D6-E50D-CD1B-0532C10FF380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36755F2-7EC5-C3DC-0F79-9E7B18533D3C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17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7413426-C266-30BB-14C5-F2B8458FAEF0}"/>
              </a:ext>
            </a:extLst>
          </p:cNvPr>
          <p:cNvSpPr/>
          <p:nvPr/>
        </p:nvSpPr>
        <p:spPr>
          <a:xfrm>
            <a:off x="1270000" y="2286000"/>
            <a:ext cx="40640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5BEEF8-06B2-71A9-AD33-20C52433808E}"/>
              </a:ext>
            </a:extLst>
          </p:cNvPr>
          <p:cNvSpPr/>
          <p:nvPr/>
        </p:nvSpPr>
        <p:spPr>
          <a:xfrm>
            <a:off x="1270000" y="2286000"/>
            <a:ext cx="76200" cy="3048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61BBE5-4628-2791-F50F-DA914FA242C2}"/>
              </a:ext>
            </a:extLst>
          </p:cNvPr>
          <p:cNvSpPr txBox="1"/>
          <p:nvPr/>
        </p:nvSpPr>
        <p:spPr>
          <a:xfrm>
            <a:off x="1498600" y="2514600"/>
            <a:ext cx="3632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使用前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06CAB7-559C-472F-7F36-846E7F835653}"/>
              </a:ext>
            </a:extLst>
          </p:cNvPr>
          <p:cNvSpPr txBox="1"/>
          <p:nvPr/>
        </p:nvSpPr>
        <p:spPr>
          <a:xfrm>
            <a:off x="1498600" y="2946400"/>
            <a:ext cx="36322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· Excel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行列展示为主</a:t>
            </a:r>
          </a:p>
          <a:p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重点需要人工再提炼</a:t>
            </a:r>
          </a:p>
          <a:p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不太适合直接汇报</a:t>
            </a:r>
          </a:p>
          <a:p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一次性报告，复用弱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C9BA6BB-E961-F7DD-E8A5-B3A03CB6AFC7}"/>
              </a:ext>
            </a:extLst>
          </p:cNvPr>
          <p:cNvSpPr/>
          <p:nvPr/>
        </p:nvSpPr>
        <p:spPr>
          <a:xfrm>
            <a:off x="6858000" y="2286000"/>
            <a:ext cx="40640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02EB8C-4610-5772-7BB0-1316093AD526}"/>
              </a:ext>
            </a:extLst>
          </p:cNvPr>
          <p:cNvSpPr/>
          <p:nvPr/>
        </p:nvSpPr>
        <p:spPr>
          <a:xfrm>
            <a:off x="6858000" y="2286000"/>
            <a:ext cx="76200" cy="3048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BF8B25-19AA-26E2-AC8C-0279DB226492}"/>
              </a:ext>
            </a:extLst>
          </p:cNvPr>
          <p:cNvSpPr txBox="1"/>
          <p:nvPr/>
        </p:nvSpPr>
        <p:spPr>
          <a:xfrm>
            <a:off x="7086600" y="2514600"/>
            <a:ext cx="3632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使用后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7BEA3C-DFD0-6506-514A-0462B6CD14E8}"/>
              </a:ext>
            </a:extLst>
          </p:cNvPr>
          <p:cNvSpPr txBox="1"/>
          <p:nvPr/>
        </p:nvSpPr>
        <p:spPr>
          <a:xfrm>
            <a:off x="7086600" y="2946400"/>
            <a:ext cx="36322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指标被结构化展示</a:t>
            </a:r>
          </a:p>
          <a:p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经营预警前置</a:t>
            </a:r>
          </a:p>
          <a:p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支持门店、周期、品类切换</a:t>
            </a:r>
          </a:p>
          <a:p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后续可以持续复用和迭代</a:t>
            </a:r>
          </a:p>
        </p:txBody>
      </p:sp>
    </p:spTree>
    <p:extLst>
      <p:ext uri="{BB962C8B-B14F-4D97-AF65-F5344CB8AC3E}">
        <p14:creationId xmlns:p14="http://schemas.microsoft.com/office/powerpoint/2010/main" val="2289116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539D9-F737-B360-E2EF-C120E41B474E}"/>
              </a:ext>
            </a:extLst>
          </p:cNvPr>
          <p:cNvSpPr txBox="1"/>
          <p:nvPr/>
        </p:nvSpPr>
        <p:spPr>
          <a:xfrm>
            <a:off x="685800" y="457200"/>
            <a:ext cx="241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646460"/>
                </a:solidFill>
                <a:latin typeface="Microsoft YaHei" panose="020B0503020204020204" pitchFamily="34" charset="-122"/>
              </a:rPr>
              <a:t>06 / </a:t>
            </a:r>
            <a:r>
              <a:rPr lang="zh-CN" altLang="en-US" sz="1100">
                <a:solidFill>
                  <a:srgbClr val="646460"/>
                </a:solidFill>
                <a:latin typeface="Microsoft YaHei" panose="020B0503020204020204" pitchFamily="34" charset="-122"/>
              </a:rPr>
              <a:t>工作价值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59FA4C-01D9-F37F-CA66-170D7CEC6F24}"/>
              </a:ext>
            </a:extLst>
          </p:cNvPr>
          <p:cNvSpPr txBox="1"/>
          <p:nvPr/>
        </p:nvSpPr>
        <p:spPr>
          <a:xfrm>
            <a:off x="685800" y="863600"/>
            <a:ext cx="10160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500" b="1">
                <a:solidFill>
                  <a:srgbClr val="1E1E1E"/>
                </a:solidFill>
                <a:latin typeface="Microsoft YaHei" panose="020B0503020204020204" pitchFamily="34" charset="-122"/>
              </a:rPr>
              <a:t>对销售运营分析的实际价值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7E3E7F-6D5B-3324-5206-12A001392D3C}"/>
              </a:ext>
            </a:extLst>
          </p:cNvPr>
          <p:cNvSpPr txBox="1"/>
          <p:nvPr/>
        </p:nvSpPr>
        <p:spPr>
          <a:xfrm>
            <a:off x="711200" y="1422400"/>
            <a:ext cx="990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让时间从重复整理中释放出来，转向更有价值的判断与建议。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F37E2BF-D8BD-21DE-991A-3644D7CD56A8}"/>
              </a:ext>
            </a:extLst>
          </p:cNvPr>
          <p:cNvCxnSpPr/>
          <p:nvPr/>
        </p:nvCxnSpPr>
        <p:spPr>
          <a:xfrm>
            <a:off x="685800" y="1841500"/>
            <a:ext cx="10820400" cy="0"/>
          </a:xfrm>
          <a:prstGeom prst="line">
            <a:avLst/>
          </a:prstGeom>
          <a:ln>
            <a:solidFill>
              <a:srgbClr val="E0E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2B1D97D-B73F-F063-C1B0-EC5B0713CEF1}"/>
              </a:ext>
            </a:extLst>
          </p:cNvPr>
          <p:cNvSpPr txBox="1"/>
          <p:nvPr/>
        </p:nvSpPr>
        <p:spPr>
          <a:xfrm>
            <a:off x="9398000" y="64262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实践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800">
                <a:solidFill>
                  <a:srgbClr val="646460"/>
                </a:solidFill>
                <a:latin typeface="Microsoft YaHei" panose="020B0503020204020204" pitchFamily="34" charset="-122"/>
              </a:rPr>
              <a:t>销售运营看板案例 </a:t>
            </a:r>
            <a:r>
              <a:rPr lang="en-US" altLang="zh-CN" sz="800">
                <a:solidFill>
                  <a:srgbClr val="646460"/>
                </a:solidFill>
                <a:latin typeface="Microsoft YaHei" panose="020B0503020204020204" pitchFamily="34" charset="-122"/>
              </a:rPr>
              <a:t>| 18 / 19</a:t>
            </a:r>
            <a:endParaRPr lang="zh-CN" altLang="en-US" sz="800">
              <a:solidFill>
                <a:srgbClr val="6464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4451ECD-A046-C0A3-8D9C-D814D2C5FBD4}"/>
              </a:ext>
            </a:extLst>
          </p:cNvPr>
          <p:cNvSpPr/>
          <p:nvPr/>
        </p:nvSpPr>
        <p:spPr>
          <a:xfrm>
            <a:off x="1016000" y="2413000"/>
            <a:ext cx="3048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6D8F9F-E568-9BCE-3F45-90387B87C108}"/>
              </a:ext>
            </a:extLst>
          </p:cNvPr>
          <p:cNvSpPr/>
          <p:nvPr/>
        </p:nvSpPr>
        <p:spPr>
          <a:xfrm>
            <a:off x="1016000" y="2413000"/>
            <a:ext cx="76200" cy="2032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E3EA18-3ED7-4C8F-8787-61D2E5ED5C86}"/>
              </a:ext>
            </a:extLst>
          </p:cNvPr>
          <p:cNvSpPr txBox="1"/>
          <p:nvPr/>
        </p:nvSpPr>
        <p:spPr>
          <a:xfrm>
            <a:off x="1244600" y="2641600"/>
            <a:ext cx="2616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提效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F06CD0-B4D9-E616-A53F-4FFFCFB15685}"/>
              </a:ext>
            </a:extLst>
          </p:cNvPr>
          <p:cNvSpPr txBox="1"/>
          <p:nvPr/>
        </p:nvSpPr>
        <p:spPr>
          <a:xfrm>
            <a:off x="1244600" y="3073400"/>
            <a:ext cx="261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减少重复整理、排版与初稿时间。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3AA6526-A463-660A-8BA0-1472E1A45D6B}"/>
              </a:ext>
            </a:extLst>
          </p:cNvPr>
          <p:cNvSpPr/>
          <p:nvPr/>
        </p:nvSpPr>
        <p:spPr>
          <a:xfrm>
            <a:off x="4572000" y="2413000"/>
            <a:ext cx="3048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28B0AF-478F-BE2B-437C-FB9BD510A71B}"/>
              </a:ext>
            </a:extLst>
          </p:cNvPr>
          <p:cNvSpPr/>
          <p:nvPr/>
        </p:nvSpPr>
        <p:spPr>
          <a:xfrm>
            <a:off x="4572000" y="2413000"/>
            <a:ext cx="76200" cy="2032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8E0D75-CE34-2E95-30A0-622C5C437303}"/>
              </a:ext>
            </a:extLst>
          </p:cNvPr>
          <p:cNvSpPr txBox="1"/>
          <p:nvPr/>
        </p:nvSpPr>
        <p:spPr>
          <a:xfrm>
            <a:off x="4800600" y="2641600"/>
            <a:ext cx="2616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提质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DC0787D-4AF0-C965-813A-26B1BCE8EEA6}"/>
              </a:ext>
            </a:extLst>
          </p:cNvPr>
          <p:cNvSpPr txBox="1"/>
          <p:nvPr/>
        </p:nvSpPr>
        <p:spPr>
          <a:xfrm>
            <a:off x="4800600" y="3073400"/>
            <a:ext cx="261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让表达更有层次，结论更清楚。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68218E-073C-A4E7-C8E4-A5C11C215181}"/>
              </a:ext>
            </a:extLst>
          </p:cNvPr>
          <p:cNvSpPr/>
          <p:nvPr/>
        </p:nvSpPr>
        <p:spPr>
          <a:xfrm>
            <a:off x="8128000" y="2413000"/>
            <a:ext cx="3048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94A553-E8DE-0268-15DD-330D04F1A60A}"/>
              </a:ext>
            </a:extLst>
          </p:cNvPr>
          <p:cNvSpPr/>
          <p:nvPr/>
        </p:nvSpPr>
        <p:spPr>
          <a:xfrm>
            <a:off x="8128000" y="2413000"/>
            <a:ext cx="76200" cy="2032000"/>
          </a:xfrm>
          <a:prstGeom prst="rect">
            <a:avLst/>
          </a:prstGeom>
          <a:solidFill>
            <a:srgbClr val="46A46C"/>
          </a:solidFill>
          <a:ln>
            <a:solidFill>
              <a:srgbClr val="46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6C4E82-C37B-A580-E16E-1AB587C821B9}"/>
              </a:ext>
            </a:extLst>
          </p:cNvPr>
          <p:cNvSpPr txBox="1"/>
          <p:nvPr/>
        </p:nvSpPr>
        <p:spPr>
          <a:xfrm>
            <a:off x="8356600" y="2641600"/>
            <a:ext cx="2616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拓展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CA7860-938B-D485-A9AC-A30498648019}"/>
              </a:ext>
            </a:extLst>
          </p:cNvPr>
          <p:cNvSpPr txBox="1"/>
          <p:nvPr/>
        </p:nvSpPr>
        <p:spPr>
          <a:xfrm>
            <a:off x="8356600" y="3073400"/>
            <a:ext cx="261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同类门店、区域、品类看板可复用。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5AFEAF8-0139-B4D5-B96C-2B079C77447E}"/>
              </a:ext>
            </a:extLst>
          </p:cNvPr>
          <p:cNvSpPr txBox="1"/>
          <p:nvPr/>
        </p:nvSpPr>
        <p:spPr>
          <a:xfrm>
            <a:off x="1397000" y="5143500"/>
            <a:ext cx="939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下一步：接入更稳定的数据更新机制，补充异常阈值配置、门店行动记录和周期性复盘导出。</a:t>
            </a:r>
          </a:p>
        </p:txBody>
      </p:sp>
    </p:spTree>
    <p:extLst>
      <p:ext uri="{BB962C8B-B14F-4D97-AF65-F5344CB8AC3E}">
        <p14:creationId xmlns:p14="http://schemas.microsoft.com/office/powerpoint/2010/main" val="1373843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8225E07-1431-72D2-1EAE-F6E0A3E65D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516"/>
          </a:solidFill>
          <a:ln>
            <a:solidFill>
              <a:srgbClr val="1315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330F97-EC93-9577-E506-3A9D1B09985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28F7A0-42B4-6ACC-825C-2C6531A1762F}"/>
              </a:ext>
            </a:extLst>
          </p:cNvPr>
          <p:cNvSpPr/>
          <p:nvPr/>
        </p:nvSpPr>
        <p:spPr>
          <a:xfrm>
            <a:off x="152400" y="0"/>
            <a:ext cx="76200" cy="6858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6C7F42-109F-2DD3-DF54-2C22224BAB2D}"/>
              </a:ext>
            </a:extLst>
          </p:cNvPr>
          <p:cNvSpPr txBox="1"/>
          <p:nvPr/>
        </p:nvSpPr>
        <p:spPr>
          <a:xfrm>
            <a:off x="736600" y="736600"/>
            <a:ext cx="254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BEC4C6"/>
                </a:solidFill>
                <a:latin typeface="Microsoft YaHei" panose="020B0503020204020204" pitchFamily="34" charset="-122"/>
              </a:rPr>
              <a:t>07 / </a:t>
            </a:r>
            <a:r>
              <a:rPr lang="zh-CN" altLang="en-US" sz="1200" b="1">
                <a:solidFill>
                  <a:srgbClr val="BEC4C6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397AAC-AA28-24A2-4AB8-58402ACFB796}"/>
              </a:ext>
            </a:extLst>
          </p:cNvPr>
          <p:cNvSpPr txBox="1"/>
          <p:nvPr/>
        </p:nvSpPr>
        <p:spPr>
          <a:xfrm>
            <a:off x="736600" y="1397000"/>
            <a:ext cx="838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好用，但不能“全交给 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AI”</a:t>
            </a:r>
            <a:endParaRPr lang="zh-CN" altLang="en-US" sz="3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C9D236-2996-7E4B-4249-48470E16FBC4}"/>
              </a:ext>
            </a:extLst>
          </p:cNvPr>
          <p:cNvSpPr txBox="1"/>
          <p:nvPr/>
        </p:nvSpPr>
        <p:spPr>
          <a:xfrm>
            <a:off x="762000" y="2311400"/>
            <a:ext cx="787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>
                <a:solidFill>
                  <a:srgbClr val="D2D6D8"/>
                </a:solidFill>
                <a:latin typeface="Microsoft YaHei" panose="020B0503020204020204" pitchFamily="34" charset="-122"/>
              </a:rPr>
              <a:t>它更像一个高效助理，而不是完全替代业务判断的人。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D8B41E2-95FB-139D-0A86-D211F7EE3CEE}"/>
              </a:ext>
            </a:extLst>
          </p:cNvPr>
          <p:cNvSpPr/>
          <p:nvPr/>
        </p:nvSpPr>
        <p:spPr>
          <a:xfrm>
            <a:off x="889000" y="3429000"/>
            <a:ext cx="45720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E0EB18-D77B-FA61-C9F4-AED43934406D}"/>
              </a:ext>
            </a:extLst>
          </p:cNvPr>
          <p:cNvSpPr/>
          <p:nvPr/>
        </p:nvSpPr>
        <p:spPr>
          <a:xfrm>
            <a:off x="889000" y="3429000"/>
            <a:ext cx="76200" cy="1651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FFF33C-FBF3-C6BC-5951-4E516D191A58}"/>
              </a:ext>
            </a:extLst>
          </p:cNvPr>
          <p:cNvSpPr txBox="1"/>
          <p:nvPr/>
        </p:nvSpPr>
        <p:spPr>
          <a:xfrm>
            <a:off x="1117600" y="3657600"/>
            <a:ext cx="4140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适合做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9CEEA9-1D38-C91C-A194-3FA61D16BB52}"/>
              </a:ext>
            </a:extLst>
          </p:cNvPr>
          <p:cNvSpPr txBox="1"/>
          <p:nvPr/>
        </p:nvSpPr>
        <p:spPr>
          <a:xfrm>
            <a:off x="1117600" y="40894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初稿、结构、转化与呈现；把低价值整理快速完成。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305257C-C981-2213-2A24-1C0821E4A072}"/>
              </a:ext>
            </a:extLst>
          </p:cNvPr>
          <p:cNvSpPr/>
          <p:nvPr/>
        </p:nvSpPr>
        <p:spPr>
          <a:xfrm>
            <a:off x="6731000" y="3429000"/>
            <a:ext cx="45720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E0E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C63FBC-CEB4-CCB3-6A63-F0B1513571C8}"/>
              </a:ext>
            </a:extLst>
          </p:cNvPr>
          <p:cNvSpPr/>
          <p:nvPr/>
        </p:nvSpPr>
        <p:spPr>
          <a:xfrm>
            <a:off x="6731000" y="3429000"/>
            <a:ext cx="76200" cy="1651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7F50E2-F40A-98DA-17D7-8151A78FA5EA}"/>
              </a:ext>
            </a:extLst>
          </p:cNvPr>
          <p:cNvSpPr txBox="1"/>
          <p:nvPr/>
        </p:nvSpPr>
        <p:spPr>
          <a:xfrm>
            <a:off x="6959600" y="3657600"/>
            <a:ext cx="4140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E1E1E"/>
                </a:solidFill>
                <a:latin typeface="Microsoft YaHei" panose="020B0503020204020204" pitchFamily="34" charset="-122"/>
              </a:rPr>
              <a:t>人负责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7E2EB4C-E8A8-AFD7-0753-62E40FA03F4C}"/>
              </a:ext>
            </a:extLst>
          </p:cNvPr>
          <p:cNvSpPr txBox="1"/>
          <p:nvPr/>
        </p:nvSpPr>
        <p:spPr>
          <a:xfrm>
            <a:off x="6959600" y="40894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数据准确性、业务逻辑、判断取舍与最终决策。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410A1A-1757-A40F-61BD-ABD95EB7CFD9}"/>
              </a:ext>
            </a:extLst>
          </p:cNvPr>
          <p:cNvSpPr txBox="1"/>
          <p:nvPr/>
        </p:nvSpPr>
        <p:spPr>
          <a:xfrm>
            <a:off x="762000" y="5994400"/>
            <a:ext cx="152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67987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2268</Words>
  <Application>Microsoft Office PowerPoint</Application>
  <PresentationFormat>宽屏</PresentationFormat>
  <Paragraphs>222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2026-06-26T05:18:42Z</dcterms:created>
  <dcterms:modified xsi:type="dcterms:W3CDTF">2026-06-26T05:30:21Z</dcterms:modified>
</cp:coreProperties>
</file>